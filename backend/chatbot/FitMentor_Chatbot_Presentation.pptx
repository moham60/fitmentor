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67EEA"/>
                </a:solidFill>
                <a:latin typeface="Calibri"/>
              </a:defRPr>
            </a:pPr>
            <a:r>
              <a:t>v4.0.0  |  Hybrid 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>
                <a:solidFill>
                  <a:srgbClr val="F0F0F0"/>
                </a:solidFill>
                <a:latin typeface="Calibri"/>
              </a:defRPr>
            </a:pPr>
            <a:r>
              <a:t>🤖  FitMentor AI Chatbot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4747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0B0C0"/>
                </a:solidFill>
                <a:latin typeface="Calibri"/>
              </a:defRPr>
            </a:pPr>
            <a:r>
              <a:t>Multilingual Conversational System for Fitness Coaching &amp; Nutrition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206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707080"/>
                </a:solidFill>
                <a:latin typeface="Calibri"/>
              </a:defRPr>
            </a:pPr>
            <a:r>
              <a:t>Hybrid RAG  •  Arabic / English  •  Streaming  •  Personalized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49377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7EEA"/>
                </a:solidFill>
                <a:latin typeface="Calibri"/>
              </a:defRPr>
            </a:pPr>
            <a:r>
              <a:t>  FastAPI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49377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7EEA"/>
                </a:solidFill>
                <a:latin typeface="Calibri"/>
              </a:defRPr>
            </a:pPr>
            <a:r>
              <a:t>  LangChain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49377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7EEA"/>
                </a:solidFill>
                <a:latin typeface="Calibri"/>
              </a:defRPr>
            </a:pPr>
            <a:r>
              <a:t>  Cohere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9377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7EEA"/>
                </a:solidFill>
                <a:latin typeface="Calibri"/>
              </a:defRPr>
            </a:pPr>
            <a:r>
              <a:t>  FAISS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49377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7EEA"/>
                </a:solidFill>
                <a:latin typeface="Calibri"/>
              </a:defRPr>
            </a:pPr>
            <a:r>
              <a:t>  Supabase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49377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7EEA"/>
                </a:solidFill>
                <a:latin typeface="Calibri"/>
              </a:defRPr>
            </a:pPr>
            <a:r>
              <a:t>  Redis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F0F0"/>
                </a:solidFill>
                <a:latin typeface="Calibri"/>
              </a:defRPr>
            </a:pPr>
            <a:r>
              <a:t>System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0C0"/>
                </a:solidFill>
                <a:latin typeface="Calibri"/>
              </a:defRPr>
            </a:pPr>
            <a:r>
              <a:t>8 core modules powering the chatbot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2697480" cy="2331720"/>
          </a:xfrm>
          <a:prstGeom prst="rect">
            <a:avLst/>
          </a:prstGeom>
          <a:solidFill>
            <a:srgbClr val="22223A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8988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0F0F0"/>
                </a:solidFill>
                <a:latin typeface="Calibri"/>
              </a:defRPr>
            </a:pPr>
            <a:r>
              <a:t>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389888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0F0"/>
                </a:solidFill>
                <a:latin typeface="Calibri"/>
              </a:defRPr>
            </a:pPr>
            <a:r>
              <a:t>Query Router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2331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Calibri"/>
              </a:defRPr>
            </a:pPr>
            <a:r>
              <a:t>Classifies each query into 4 modes: Supabase Only (personal data), Vector Only (knowledge), Hybrid (both), or Off-Topic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1280160"/>
            <a:ext cx="2697480" cy="2331720"/>
          </a:xfrm>
          <a:prstGeom prst="rect">
            <a:avLst/>
          </a:prstGeom>
          <a:solidFill>
            <a:srgbClr val="22223A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138988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0F0F0"/>
                </a:solidFill>
                <a:latin typeface="Calibri"/>
              </a:defRPr>
            </a:pPr>
            <a:r>
              <a:t>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1389888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0F0"/>
                </a:solidFill>
                <a:latin typeface="Calibri"/>
              </a:defRPr>
            </a:pPr>
            <a:r>
              <a:t>RAG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1737360"/>
            <a:ext cx="2331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Calibri"/>
              </a:defRPr>
            </a:pPr>
            <a:r>
              <a:t>LangChain pipeline: routes → retrieves → assembles context → generates response via Cohere LLM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280160"/>
            <a:ext cx="2697480" cy="2331720"/>
          </a:xfrm>
          <a:prstGeom prst="rect">
            <a:avLst/>
          </a:prstGeom>
          <a:solidFill>
            <a:srgbClr val="22223A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38988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0F0F0"/>
                </a:solidFill>
                <a:latin typeface="Calibri"/>
              </a:defRPr>
            </a:pPr>
            <a:r>
              <a:t>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1389888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0F0"/>
                </a:solidFill>
                <a:latin typeface="Calibri"/>
              </a:defRPr>
            </a:pPr>
            <a:r>
              <a:t>Context Builder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1737360"/>
            <a:ext cx="2331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Calibri"/>
              </a:defRPr>
            </a:pPr>
            <a:r>
              <a:t>Fetches &amp; caches user data from all 23 Supabase tables (profile, InBody, workouts, meals, social)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06840" y="1280160"/>
            <a:ext cx="2697480" cy="2331720"/>
          </a:xfrm>
          <a:prstGeom prst="rect">
            <a:avLst/>
          </a:prstGeom>
          <a:solidFill>
            <a:srgbClr val="22223A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89720" y="138988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0F0F0"/>
                </a:solidFill>
                <a:latin typeface="Calibri"/>
              </a:defRPr>
            </a:pPr>
            <a:r>
              <a:t>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55480" y="1389888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0F0"/>
                </a:solidFill>
                <a:latin typeface="Calibri"/>
              </a:defRPr>
            </a:pPr>
            <a:r>
              <a:t>Vector Store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20" y="1737360"/>
            <a:ext cx="2331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Calibri"/>
              </a:defRPr>
            </a:pPr>
            <a:r>
              <a:t>FAISS index + Cohere multilingual embeddings for semantic search across fitness knowledge base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886200"/>
            <a:ext cx="2697480" cy="2331720"/>
          </a:xfrm>
          <a:prstGeom prst="rect">
            <a:avLst/>
          </a:prstGeom>
          <a:solidFill>
            <a:srgbClr val="22223A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99592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0F0F0"/>
                </a:solidFill>
                <a:latin typeface="Calibri"/>
              </a:defRPr>
            </a:pPr>
            <a:r>
              <a:t>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3995928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0F0"/>
                </a:solidFill>
                <a:latin typeface="Calibri"/>
              </a:defRPr>
            </a:pPr>
            <a:r>
              <a:t>Cache Layer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343400"/>
            <a:ext cx="2331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Calibri"/>
              </a:defRPr>
            </a:pPr>
            <a:r>
              <a:t>4-level caching (context, embeddings, search, responses) with In-Memory + optional Redis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46120" y="3886200"/>
            <a:ext cx="2697480" cy="2331720"/>
          </a:xfrm>
          <a:prstGeom prst="rect">
            <a:avLst/>
          </a:prstGeom>
          <a:solidFill>
            <a:srgbClr val="22223A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29000" y="399592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0F0F0"/>
                </a:solidFill>
                <a:latin typeface="Calibri"/>
              </a:defRPr>
            </a:pPr>
            <a:r>
              <a:t>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94760" y="3995928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0F0"/>
                </a:solidFill>
                <a:latin typeface="Calibri"/>
              </a:defRPr>
            </a:pPr>
            <a:r>
              <a:t>Ingestion Engine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4343400"/>
            <a:ext cx="2331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Calibri"/>
              </a:defRPr>
            </a:pPr>
            <a:r>
              <a:t>Auto-imports static sites &amp; SPA content via Playwright into the vector knowledge base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26480" y="3886200"/>
            <a:ext cx="2697480" cy="2331720"/>
          </a:xfrm>
          <a:prstGeom prst="rect">
            <a:avLst/>
          </a:prstGeom>
          <a:solidFill>
            <a:srgbClr val="22223A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0" y="399592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0F0F0"/>
                </a:solidFill>
                <a:latin typeface="Calibri"/>
              </a:defRPr>
            </a:pPr>
            <a:r>
              <a:t>🗄️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3995928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0F0"/>
                </a:solidFill>
                <a:latin typeface="Calibri"/>
              </a:defRPr>
            </a:pPr>
            <a:r>
              <a:t>Supabase Services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4343400"/>
            <a:ext cx="2331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Calibri"/>
              </a:defRPr>
            </a:pPr>
            <a:r>
              <a:t>7 specialized modules: Users, Workouts, Meals, Coaches, Social, Library, Context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006840" y="3886200"/>
            <a:ext cx="2697480" cy="2331720"/>
          </a:xfrm>
          <a:prstGeom prst="rect">
            <a:avLst/>
          </a:prstGeom>
          <a:solidFill>
            <a:srgbClr val="22223A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89720" y="399592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0F0F0"/>
                </a:solidFill>
                <a:latin typeface="Calibri"/>
              </a:defRPr>
            </a:pPr>
            <a:r>
              <a:t>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55480" y="3995928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0F0"/>
                </a:solidFill>
                <a:latin typeface="Calibri"/>
              </a:defRPr>
            </a:pPr>
            <a:r>
              <a:t>Chat API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89720" y="4343400"/>
            <a:ext cx="2331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Calibri"/>
              </a:defRPr>
            </a:pPr>
            <a:r>
              <a:t>REST endpoints with SSE streaming, conversation history, and message management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F0F0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0C0"/>
                </a:solidFill>
                <a:latin typeface="Calibri"/>
              </a:defRPr>
            </a:pPr>
            <a:r>
              <a:t>End-to-end flow: User ➔ AI Response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1280160"/>
            <a:ext cx="3931920" cy="640080"/>
          </a:xfrm>
          <a:prstGeom prst="rect">
            <a:avLst/>
          </a:prstGeom>
          <a:solidFill>
            <a:srgbClr val="252545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0" y="13258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0F0F0"/>
                </a:solidFill>
                <a:latin typeface="Calibri"/>
              </a:defRPr>
            </a:pPr>
            <a:r>
              <a:t>🌐  Frontend (React / Mobile)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965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67EEA"/>
                </a:solidFill>
                <a:latin typeface="Calibri"/>
              </a:defRPr>
            </a:pPr>
            <a:r>
              <a:t>⬇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86000"/>
            <a:ext cx="11247120" cy="548640"/>
          </a:xfrm>
          <a:prstGeom prst="rect">
            <a:avLst/>
          </a:prstGeom>
          <a:solidFill>
            <a:srgbClr val="282848"/>
          </a:solidFill>
          <a:ln>
            <a:solidFill>
              <a:srgbClr val="764B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0F0F0"/>
                </a:solidFill>
                <a:latin typeface="Calibri"/>
              </a:defRPr>
            </a:pPr>
            <a:r>
              <a:t>⚡  FastAPI Backend  →  🔀  Query Router  (classifies query → decides retrieval mode)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2880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7EEA"/>
                </a:solidFill>
                <a:latin typeface="Calibri"/>
              </a:defRPr>
            </a:pPr>
            <a:r>
              <a:t>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200400"/>
            <a:ext cx="3291840" cy="1005840"/>
          </a:xfrm>
          <a:prstGeom prst="rect">
            <a:avLst/>
          </a:prstGeom>
          <a:solidFill>
            <a:srgbClr val="22223A"/>
          </a:solidFill>
          <a:ln>
            <a:solidFill>
              <a:srgbClr val="3BC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2461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CA7E"/>
                </a:solidFill>
                <a:latin typeface="Calibri"/>
              </a:defRPr>
            </a:pPr>
            <a:r>
              <a:t>🗄️  Supabase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204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Calibri"/>
              </a:defRPr>
            </a:pPr>
            <a:r>
              <a:t>  Personal data from 23 tables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80559" y="3200400"/>
            <a:ext cx="3291840" cy="1005840"/>
          </a:xfrm>
          <a:prstGeom prst="rect">
            <a:avLst/>
          </a:prstGeom>
          <a:solidFill>
            <a:srgbClr val="22223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1999" y="32461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67EEA"/>
                </a:solidFill>
                <a:latin typeface="Calibri"/>
              </a:defRPr>
            </a:pPr>
            <a:r>
              <a:t>🔎  Vector 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1999" y="35204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Calibri"/>
              </a:defRPr>
            </a:pPr>
            <a:r>
              <a:t>  FAISS knowledge base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3200400"/>
            <a:ext cx="3291840" cy="1005840"/>
          </a:xfrm>
          <a:prstGeom prst="rect">
            <a:avLst/>
          </a:prstGeom>
          <a:solidFill>
            <a:srgbClr val="22223A"/>
          </a:solidFill>
          <a:ln>
            <a:solidFill>
              <a:srgbClr val="EA66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32461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A667E"/>
                </a:solidFill>
                <a:latin typeface="Calibri"/>
              </a:defRPr>
            </a:pPr>
            <a:r>
              <a:t>🔄  Hybrid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5204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Calibri"/>
              </a:defRPr>
            </a:pPr>
            <a:r>
              <a:t>  Supabase + FAISS combined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4251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7EEA"/>
                </a:solidFill>
                <a:latin typeface="Calibri"/>
              </a:defRPr>
            </a:pPr>
            <a:r>
              <a:t>⬇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4572000"/>
            <a:ext cx="10332720" cy="640080"/>
          </a:xfrm>
          <a:prstGeom prst="rect">
            <a:avLst/>
          </a:prstGeom>
          <a:solidFill>
            <a:srgbClr val="282848"/>
          </a:solidFill>
          <a:ln>
            <a:solidFill>
              <a:srgbClr val="764B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4617720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0F0F0"/>
                </a:solidFill>
                <a:latin typeface="Calibri"/>
              </a:defRPr>
            </a:pPr>
            <a:r>
              <a:t>🧠  Hybrid RAG Engine (LangChain)  —  Context Assembly  ➔  Prompt  ➔  Cohere LLM  ➔  Clean Response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892040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0C0"/>
                </a:solidFill>
                <a:latin typeface="Calibri"/>
              </a:defRPr>
            </a:pPr>
            <a:r>
              <a:t>📦 Context Builder  |  🎯 Prompt Formatting  |  🤖 Cohere command-a  |  🧹 Markdown Removal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5257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7EEA"/>
                </a:solidFill>
                <a:latin typeface="Calibri"/>
              </a:defRPr>
            </a:pPr>
            <a:r>
              <a:t>⬇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577840"/>
            <a:ext cx="5029200" cy="548640"/>
          </a:xfrm>
          <a:prstGeom prst="rect">
            <a:avLst/>
          </a:prstGeom>
          <a:solidFill>
            <a:srgbClr val="22223A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623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C107"/>
                </a:solidFill>
                <a:latin typeface="Calibri"/>
              </a:defRPr>
            </a:pPr>
            <a:r>
              <a:t>⚡  Cache Layer (2-min TTL)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75120" y="5577840"/>
            <a:ext cx="5029200" cy="548640"/>
          </a:xfrm>
          <a:prstGeom prst="rect">
            <a:avLst/>
          </a:prstGeom>
          <a:solidFill>
            <a:srgbClr val="22223A"/>
          </a:solidFill>
          <a:ln>
            <a:solidFill>
              <a:srgbClr val="3BC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0" y="5623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BCA7E"/>
                </a:solidFill>
                <a:latin typeface="Calibri"/>
              </a:defRPr>
            </a:pPr>
            <a:r>
              <a:t>💬  Response (JSON / SSE Stream)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F0F0"/>
                </a:solidFill>
                <a:latin typeface="Calibri"/>
              </a:defRPr>
            </a:pPr>
            <a:r>
              <a:t>Intelligent Query Router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0C0"/>
                </a:solidFill>
                <a:latin typeface="Calibri"/>
              </a:defRPr>
            </a:pPr>
            <a:r>
              <a:t>Keyword-scoring decides retrieval strategy per query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5486400" cy="2286000"/>
          </a:xfrm>
          <a:prstGeom prst="rect">
            <a:avLst/>
          </a:prstGeom>
          <a:solidFill>
            <a:srgbClr val="22223A"/>
          </a:solidFill>
          <a:ln w="19050">
            <a:solidFill>
              <a:srgbClr val="3BC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463040"/>
            <a:ext cx="91440" cy="91440"/>
          </a:xfrm>
          <a:prstGeom prst="rect">
            <a:avLst/>
          </a:prstGeom>
          <a:solidFill>
            <a:srgbClr val="3BC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8988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F0F0"/>
                </a:solidFill>
                <a:latin typeface="Calibri"/>
              </a:defRPr>
            </a:pPr>
            <a:r>
              <a:t>Supabase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Calibri"/>
              </a:defRPr>
            </a:pPr>
            <a:r>
              <a:t>Arabic: "وزني", "هدفي", "إنبودي"</a:t>
            </a:r>
            <a:br/>
            <a:r>
              <a:t>English: "my weight", "my goal", "my data"</a:t>
            </a:r>
            <a:br/>
            <a:r>
              <a:t>→ Reads profile, InBody, workouts from DB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280160"/>
            <a:ext cx="5486400" cy="2286000"/>
          </a:xfrm>
          <a:prstGeom prst="rect">
            <a:avLst/>
          </a:prstGeom>
          <a:solidFill>
            <a:srgbClr val="22223A"/>
          </a:solidFill>
          <a:ln w="1905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463040"/>
            <a:ext cx="91440" cy="9144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38988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F0F0"/>
                </a:solidFill>
                <a:latin typeface="Calibri"/>
              </a:defRPr>
            </a:pPr>
            <a:r>
              <a:t>Vector Only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78308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Calibri"/>
              </a:defRPr>
            </a:pPr>
            <a:r>
              <a:t>Arabic: "ما هو", "كيف", "الفرق بين"</a:t>
            </a:r>
            <a:br/>
            <a:r>
              <a:t>English: "what is", "explain", "benefits of"</a:t>
            </a:r>
            <a:br/>
            <a:r>
              <a:t>→ Searches FAISS fitness knowledge base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931920"/>
            <a:ext cx="5486400" cy="2286000"/>
          </a:xfrm>
          <a:prstGeom prst="rect">
            <a:avLst/>
          </a:prstGeom>
          <a:solidFill>
            <a:srgbClr val="22223A"/>
          </a:solidFill>
          <a:ln w="19050">
            <a:solidFill>
              <a:srgbClr val="EA66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4114800"/>
            <a:ext cx="91440" cy="91440"/>
          </a:xfrm>
          <a:prstGeom prst="rect">
            <a:avLst/>
          </a:prstGeom>
          <a:solidFill>
            <a:srgbClr val="EA6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04164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F0F0"/>
                </a:solidFill>
                <a:latin typeface="Calibri"/>
              </a:defRPr>
            </a:pPr>
            <a:r>
              <a:t>Hybrid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43484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Calibri"/>
              </a:defRPr>
            </a:pPr>
            <a:r>
              <a:t>Arabic: "خطة لي", "ماذا آكل", "كم بروتين"</a:t>
            </a:r>
            <a:br/>
            <a:r>
              <a:t>English: "plan for me", "should I do"</a:t>
            </a:r>
            <a:br/>
            <a:r>
              <a:t>→ Merges personal data + knowledge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3931920"/>
            <a:ext cx="5486400" cy="2286000"/>
          </a:xfrm>
          <a:prstGeom prst="rect">
            <a:avLst/>
          </a:prstGeom>
          <a:solidFill>
            <a:srgbClr val="22223A"/>
          </a:solidFill>
          <a:ln w="1905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4114800"/>
            <a:ext cx="91440" cy="914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404164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F0F0"/>
                </a:solidFill>
                <a:latin typeface="Calibri"/>
              </a:defRPr>
            </a:pPr>
            <a:r>
              <a:t>Off-Topic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43484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Calibri"/>
              </a:defRPr>
            </a:pPr>
            <a:r>
              <a:t>Sports news, politics, weather, movies</a:t>
            </a:r>
            <a:br/>
            <a:r>
              <a:t>→ Polite redirect to fitness domain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F0F0"/>
                </a:solidFill>
                <a:latin typeface="Calibri"/>
              </a:defRPr>
            </a:pPr>
            <a:r>
              <a:t>RAG Engine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0C0"/>
                </a:solidFill>
                <a:latin typeface="Calibri"/>
              </a:defRPr>
            </a:pPr>
            <a:r>
              <a:t>6-stage processing with timing targets</a:t>
            </a:r>
          </a:p>
        </p:txBody>
      </p:sp>
      <p:sp>
        <p:nvSpPr>
          <p:cNvPr id="5" name="Oval 4"/>
          <p:cNvSpPr/>
          <p:nvPr/>
        </p:nvSpPr>
        <p:spPr>
          <a:xfrm>
            <a:off x="502920" y="1417320"/>
            <a:ext cx="411480" cy="411480"/>
          </a:xfrm>
          <a:prstGeom prst="ellipse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0F0F0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4173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0F0F0"/>
                </a:solidFill>
                <a:latin typeface="Calibri"/>
              </a:defRPr>
            </a:pPr>
            <a:r>
              <a:t>Route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288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alibri"/>
              </a:defRPr>
            </a:pPr>
            <a:r>
              <a:t>Keyword scoring → choose mode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6517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67EEA"/>
                </a:solidFill>
                <a:latin typeface="Calibri"/>
              </a:defRPr>
            </a:pPr>
            <a:r>
              <a:t>⏱  ~5ms</a:t>
            </a:r>
          </a:p>
        </p:txBody>
      </p:sp>
      <p:sp>
        <p:nvSpPr>
          <p:cNvPr id="9" name="Oval 8"/>
          <p:cNvSpPr/>
          <p:nvPr/>
        </p:nvSpPr>
        <p:spPr>
          <a:xfrm>
            <a:off x="4343400" y="1417320"/>
            <a:ext cx="411480" cy="411480"/>
          </a:xfrm>
          <a:prstGeom prst="ellipse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0F0F0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14173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0F0F0"/>
                </a:solidFill>
                <a:latin typeface="Calibri"/>
              </a:defRPr>
            </a:pPr>
            <a:r>
              <a:t>Build Context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18288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alibri"/>
              </a:defRPr>
            </a:pPr>
            <a:r>
              <a:t>Fetch 23 Supabase tables (cached 5min)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26517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67EEA"/>
                </a:solidFill>
                <a:latin typeface="Calibri"/>
              </a:defRPr>
            </a:pPr>
            <a:r>
              <a:t>⏱  ~200ms</a:t>
            </a:r>
          </a:p>
        </p:txBody>
      </p:sp>
      <p:sp>
        <p:nvSpPr>
          <p:cNvPr id="13" name="Oval 12"/>
          <p:cNvSpPr/>
          <p:nvPr/>
        </p:nvSpPr>
        <p:spPr>
          <a:xfrm>
            <a:off x="8183880" y="1417320"/>
            <a:ext cx="411480" cy="411480"/>
          </a:xfrm>
          <a:prstGeom prst="ellipse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0F0F0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14173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0F0F0"/>
                </a:solidFill>
                <a:latin typeface="Calibri"/>
              </a:defRPr>
            </a:pPr>
            <a:r>
              <a:t>Vector Search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80" y="18288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alibri"/>
              </a:defRPr>
            </a:pPr>
            <a:r>
              <a:t>Cohere embed → FAISS search → rank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80" y="26517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67EEA"/>
                </a:solidFill>
                <a:latin typeface="Calibri"/>
              </a:defRPr>
            </a:pPr>
            <a:r>
              <a:t>⏱  ~150ms</a:t>
            </a:r>
          </a:p>
        </p:txBody>
      </p:sp>
      <p:sp>
        <p:nvSpPr>
          <p:cNvPr id="17" name="Oval 16"/>
          <p:cNvSpPr/>
          <p:nvPr/>
        </p:nvSpPr>
        <p:spPr>
          <a:xfrm>
            <a:off x="502920" y="3886199"/>
            <a:ext cx="411480" cy="411480"/>
          </a:xfrm>
          <a:prstGeom prst="ellipse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0F0F0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886199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0F0F0"/>
                </a:solidFill>
                <a:latin typeface="Calibri"/>
              </a:defRPr>
            </a:pPr>
            <a:r>
              <a:t>Assemble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297679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alibri"/>
              </a:defRPr>
            </a:pPr>
            <a:r>
              <a:t>Merge Supabase + vectors into prompt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120639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67EEA"/>
                </a:solidFill>
                <a:latin typeface="Calibri"/>
              </a:defRPr>
            </a:pPr>
            <a:r>
              <a:t>⏱  ~5ms</a:t>
            </a:r>
          </a:p>
        </p:txBody>
      </p:sp>
      <p:sp>
        <p:nvSpPr>
          <p:cNvPr id="21" name="Oval 20"/>
          <p:cNvSpPr/>
          <p:nvPr/>
        </p:nvSpPr>
        <p:spPr>
          <a:xfrm>
            <a:off x="4343400" y="3886199"/>
            <a:ext cx="411480" cy="411480"/>
          </a:xfrm>
          <a:prstGeom prst="ellipse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0F0F0"/>
                </a:solidFill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3886199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0F0F0"/>
                </a:solidFill>
                <a:latin typeface="Calibri"/>
              </a:defRPr>
            </a:pPr>
            <a:r>
              <a:t>Generate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4297679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alibri"/>
              </a:defRPr>
            </a:pPr>
            <a:r>
              <a:t>Cohere LLM (temp=0.35, 600 tokens)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5120639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67EEA"/>
                </a:solidFill>
                <a:latin typeface="Calibri"/>
              </a:defRPr>
            </a:pPr>
            <a:r>
              <a:t>⏱  ~500-1000ms</a:t>
            </a:r>
          </a:p>
        </p:txBody>
      </p:sp>
      <p:sp>
        <p:nvSpPr>
          <p:cNvPr id="25" name="Oval 24"/>
          <p:cNvSpPr/>
          <p:nvPr/>
        </p:nvSpPr>
        <p:spPr>
          <a:xfrm>
            <a:off x="8183880" y="3886199"/>
            <a:ext cx="411480" cy="411480"/>
          </a:xfrm>
          <a:prstGeom prst="ellipse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0F0F0"/>
                </a:solidFill>
              </a:defRPr>
            </a:pPr>
            <a: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3886199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0F0F0"/>
                </a:solidFill>
                <a:latin typeface="Calibri"/>
              </a:defRPr>
            </a:pPr>
            <a:r>
              <a:t>Cache &amp; Deliver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80" y="4297679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alibri"/>
              </a:defRPr>
            </a:pPr>
            <a:r>
              <a:t>Cache response → stream via SSE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80" y="5120639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67EEA"/>
                </a:solidFill>
                <a:latin typeface="Calibri"/>
              </a:defRPr>
            </a:pPr>
            <a:r>
              <a:t>⏱  ~5ms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669280"/>
            <a:ext cx="2560320" cy="73152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57150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67EEA"/>
                </a:solidFill>
                <a:latin typeface="Calibri"/>
              </a:defRPr>
            </a:pPr>
            <a:r>
              <a:t>&lt; 100ms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98932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B0C0"/>
                </a:solidFill>
                <a:latin typeface="Calibri"/>
              </a:defRPr>
            </a:pPr>
            <a:r>
              <a:t>Cached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37560" y="5669280"/>
            <a:ext cx="2560320" cy="73152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29000" y="57150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67EEA"/>
                </a:solidFill>
                <a:latin typeface="Calibri"/>
              </a:defRPr>
            </a:pPr>
            <a:r>
              <a:t>&lt; 1.5s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29000" y="598932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B0C0"/>
                </a:solidFill>
                <a:latin typeface="Calibri"/>
              </a:defRPr>
            </a:pPr>
            <a:r>
              <a:t>First hit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5669280"/>
            <a:ext cx="2560320" cy="73152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09360" y="57150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67EEA"/>
                </a:solidFill>
                <a:latin typeface="Calibri"/>
              </a:defRPr>
            </a:pPr>
            <a:r>
              <a:t>90%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598932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B0C0"/>
                </a:solidFill>
                <a:latin typeface="Calibri"/>
              </a:defRPr>
            </a:pPr>
            <a:r>
              <a:t>API saved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098280" y="5669280"/>
            <a:ext cx="2560320" cy="73152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89720" y="57150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67EEA"/>
                </a:solidFill>
                <a:latin typeface="Calibri"/>
              </a:defRPr>
            </a:pPr>
            <a:r>
              <a:t>600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89720" y="598932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B0C0"/>
                </a:solidFill>
                <a:latin typeface="Calibri"/>
              </a:defRPr>
            </a:pPr>
            <a:r>
              <a:t>Token cap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F0F0"/>
                </a:solidFill>
                <a:latin typeface="Calibri"/>
              </a:defRPr>
            </a:pPr>
            <a:r>
              <a:t>Example Scenarios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0C0"/>
                </a:solidFill>
                <a:latin typeface="Calibri"/>
              </a:defRPr>
            </a:pPr>
            <a:r>
              <a:t>Real interactions showing each routing mode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577840" cy="2468880"/>
          </a:xfrm>
          <a:prstGeom prst="rect">
            <a:avLst/>
          </a:prstGeom>
          <a:solidFill>
            <a:srgbClr val="22223A"/>
          </a:solidFill>
          <a:ln>
            <a:solidFill>
              <a:srgbClr val="3BC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61872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CA7E"/>
                </a:solidFill>
                <a:latin typeface="Calibri"/>
              </a:defRPr>
            </a:pPr>
            <a:r>
              <a:t>🔀  Supabase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54480"/>
            <a:ext cx="5212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Calibri"/>
              </a:defRPr>
            </a:pPr>
            <a:r>
              <a:t>👤 User: كم وزني الحالي؟ وهل تغيرت نسبة الدهون من آخر فحص؟</a:t>
            </a:r>
            <a:br/>
            <a:br/>
            <a:r>
              <a:t>🤖 Bot: Weight: 85 kg (recorded Jun 15). Body fat: 22% (down 1.5% 👍).</a:t>
            </a:r>
            <a:br/>
            <a:r>
              <a:t>Muscle mass: 40 kg (stable). Keep training!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20040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07080"/>
                </a:solidFill>
                <a:latin typeface="Calibri"/>
              </a:defRPr>
            </a:pPr>
            <a:r>
              <a:t>Sources: profiles, body_measurements, inbody_results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188720"/>
            <a:ext cx="5577840" cy="2468880"/>
          </a:xfrm>
          <a:prstGeom prst="rect">
            <a:avLst/>
          </a:prstGeom>
          <a:solidFill>
            <a:srgbClr val="22223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261872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67EEA"/>
                </a:solidFill>
                <a:latin typeface="Calibri"/>
              </a:defRPr>
            </a:pPr>
            <a:r>
              <a:t>🔀  Vector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554480"/>
            <a:ext cx="5212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Calibri"/>
              </a:defRPr>
            </a:pPr>
            <a:r>
              <a:t>👤 User: What's the difference between Squat and Lunges?</a:t>
            </a:r>
            <a:br/>
            <a:br/>
            <a:r>
              <a:t>🤖 Bot: Squat: compound, targets quads/glutes, more calories.</a:t>
            </a:r>
            <a:br/>
            <a:r>
              <a:t>Lunges: unilateral, improves balance.</a:t>
            </a:r>
            <a:br/>
            <a:r>
              <a:t>→ Use both for best results.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320040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07080"/>
                </a:solidFill>
                <a:latin typeface="Calibri"/>
              </a:defRPr>
            </a:pPr>
            <a:r>
              <a:t>Sources: exercise_library, vector knowledge base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840480"/>
            <a:ext cx="5577840" cy="2468880"/>
          </a:xfrm>
          <a:prstGeom prst="rect">
            <a:avLst/>
          </a:prstGeom>
          <a:solidFill>
            <a:srgbClr val="22223A"/>
          </a:solidFill>
          <a:ln>
            <a:solidFill>
              <a:srgbClr val="EA66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913632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A667E"/>
                </a:solidFill>
                <a:latin typeface="Calibri"/>
              </a:defRPr>
            </a:pPr>
            <a:r>
              <a:t>🔀  Hybrid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206240"/>
            <a:ext cx="5212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Calibri"/>
              </a:defRPr>
            </a:pPr>
            <a:r>
              <a:t>👤 User: اعمل لي خطة تمارين أسبوعية حسب وزني وهدفي</a:t>
            </a:r>
            <a:br/>
            <a:br/>
            <a:r>
              <a:t>🤖 Bot: Weight 85kg, goal: fat loss.</a:t>
            </a:r>
            <a:br/>
            <a:r>
              <a:t>Mon: Cardio 30min  |  Tue: Strength (Squat, Bench, Rows)</a:t>
            </a:r>
            <a:br/>
            <a:r>
              <a:t>Wed: Walk 45min  |  Thu: HIIT Tabata 20min</a:t>
            </a:r>
            <a:br/>
            <a:r>
              <a:t>Fri: Strength (Deadlift, Pull-ups)  |  Sat: Swim 40min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85216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07080"/>
                </a:solidFill>
                <a:latin typeface="Calibri"/>
              </a:defRPr>
            </a:pPr>
            <a:r>
              <a:t>Sources: Supabase profile + FAISS exercise DB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3840480"/>
            <a:ext cx="5577840" cy="2468880"/>
          </a:xfrm>
          <a:prstGeom prst="rect">
            <a:avLst/>
          </a:prstGeom>
          <a:solidFill>
            <a:srgbClr val="22223A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3913632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107"/>
                </a:solidFill>
                <a:latin typeface="Calibri"/>
              </a:defRPr>
            </a:pPr>
            <a:r>
              <a:t>🔀  Off-Topic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4206240"/>
            <a:ext cx="5212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Calibri"/>
              </a:defRPr>
            </a:pPr>
            <a:r>
              <a:t>👤 User: أخبرني عن آخر أخبار كرة القدم</a:t>
            </a:r>
            <a:br/>
            <a:br/>
            <a:r>
              <a:t>🤖 Bot: I'm specialized in fitness &amp; nutrition only.</a:t>
            </a:r>
            <a:br/>
            <a:r>
              <a:t>I can help with workouts, diet plans, InBody analysis.</a:t>
            </a:r>
            <a:br/>
            <a:r>
              <a:t>What's your fitness goal today?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585216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07080"/>
                </a:solidFill>
                <a:latin typeface="Calibri"/>
              </a:defRPr>
            </a:pPr>
            <a:r>
              <a:t>Polite redirect to fitness domain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F0F0"/>
                </a:solidFill>
                <a:latin typeface="Calibri"/>
              </a:defRPr>
            </a:pPr>
            <a:r>
              <a:t>Supabase Data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0C0"/>
                </a:solidFill>
                <a:latin typeface="Calibri"/>
              </a:defRPr>
            </a:pPr>
            <a:r>
              <a:t>23 tables across 4 domains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2743200" cy="5120640"/>
          </a:xfrm>
          <a:prstGeom prst="rect">
            <a:avLst/>
          </a:prstGeom>
          <a:solidFill>
            <a:srgbClr val="22223A"/>
          </a:solidFill>
          <a:ln w="19050">
            <a:solidFill>
              <a:srgbClr val="3BC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BCA7E"/>
                </a:solidFill>
                <a:latin typeface="Calibri"/>
              </a:defRPr>
            </a:pPr>
            <a:r>
              <a:t>👤  Profile &amp; Body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6916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Calibri"/>
              </a:defRPr>
            </a:pPr>
            <a:r>
              <a:t>• profiles — Name, age, goal, TDEE, BMR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1488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Calibri"/>
              </a:defRPr>
            </a:pPr>
            <a:r>
              <a:t>• body_measurements — InBody scans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6060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Calibri"/>
              </a:defRPr>
            </a:pPr>
            <a:r>
              <a:t>• inbody_results — Scan history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0632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Calibri"/>
              </a:defRPr>
            </a:pPr>
            <a:r>
              <a:t>• weight_logs — Weight tracking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188720"/>
            <a:ext cx="2743200" cy="5120640"/>
          </a:xfrm>
          <a:prstGeom prst="rect">
            <a:avLst/>
          </a:prstGeom>
          <a:solidFill>
            <a:srgbClr val="22223A"/>
          </a:solidFill>
          <a:ln w="1905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12801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67EEA"/>
                </a:solidFill>
                <a:latin typeface="Calibri"/>
              </a:defRPr>
            </a:pPr>
            <a:r>
              <a:t>🏋️  Workouts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16916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Calibri"/>
              </a:defRPr>
            </a:pPr>
            <a:r>
              <a:t>• workout_plans — Training templates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1488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Calibri"/>
              </a:defRPr>
            </a:pPr>
            <a:r>
              <a:t>• workouts — Completed sessions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6060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Calibri"/>
              </a:defRPr>
            </a:pPr>
            <a:r>
              <a:t>• exercise_library — Exercise DB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30632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Calibri"/>
              </a:defRPr>
            </a:pPr>
            <a:r>
              <a:t>• user_exercise_sets — Reps/sets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188720"/>
            <a:ext cx="2743200" cy="5120640"/>
          </a:xfrm>
          <a:prstGeom prst="rect">
            <a:avLst/>
          </a:prstGeom>
          <a:solidFill>
            <a:srgbClr val="22223A"/>
          </a:solidFill>
          <a:ln w="19050">
            <a:solidFill>
              <a:srgbClr val="EA66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12801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A667E"/>
                </a:solidFill>
                <a:latin typeface="Calibri"/>
              </a:defRPr>
            </a:pPr>
            <a:r>
              <a:t>🍽️  Nutrition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16916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Calibri"/>
              </a:defRPr>
            </a:pPr>
            <a:r>
              <a:t>• user_meal_plans — Meal schedules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21488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Calibri"/>
              </a:defRPr>
            </a:pPr>
            <a:r>
              <a:t>• meals — Logged meals with macros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6060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Calibri"/>
              </a:defRPr>
            </a:pPr>
            <a:r>
              <a:t>• food_items — Food nutrition DB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30632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Calibri"/>
              </a:defRPr>
            </a:pPr>
            <a:r>
              <a:t>• user_meal_checkins — Compliance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89720" y="1188720"/>
            <a:ext cx="2743200" cy="5120640"/>
          </a:xfrm>
          <a:prstGeom prst="rect">
            <a:avLst/>
          </a:prstGeom>
          <a:solidFill>
            <a:srgbClr val="22223A"/>
          </a:solidFill>
          <a:ln w="19050">
            <a:solidFill>
              <a:srgbClr val="764B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0" y="12801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64BA2"/>
                </a:solidFill>
                <a:latin typeface="Calibri"/>
              </a:defRPr>
            </a:pPr>
            <a:r>
              <a:t>👥  Social &amp; Coach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16916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Calibri"/>
              </a:defRPr>
            </a:pPr>
            <a:r>
              <a:t>• posts / comments / likes — Social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21488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Calibri"/>
              </a:defRPr>
            </a:pPr>
            <a:r>
              <a:t>• direct_messages — Messaging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26060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Calibri"/>
              </a:defRPr>
            </a:pPr>
            <a:r>
              <a:t>• coach_plans / plan_muscles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30632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Calibri"/>
              </a:defRPr>
            </a:pPr>
            <a:r>
              <a:t>• selected_coach_plan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F0F0"/>
                </a:solidFill>
                <a:latin typeface="Calibri"/>
              </a:defRPr>
            </a:pPr>
            <a:r>
              <a:t>Multi-Tier Caching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0C0"/>
                </a:solidFill>
                <a:latin typeface="Calibri"/>
              </a:defRPr>
            </a:pPr>
            <a:r>
              <a:t>In-Memory + optional Redis with auto-fallback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303520" cy="2011680"/>
          </a:xfrm>
          <a:prstGeom prst="rect">
            <a:avLst/>
          </a:prstGeom>
          <a:solidFill>
            <a:srgbClr val="22223A"/>
          </a:solidFill>
          <a:ln w="1905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0F0F0"/>
                </a:solidFill>
                <a:latin typeface="Calibri"/>
              </a:defRPr>
            </a:pPr>
            <a:r>
              <a:t>🏠  In-Memory Cache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alibri"/>
              </a:defRPr>
            </a:pPr>
            <a:r>
              <a:t>• Thread-safe asyncio.Lock storage</a:t>
            </a:r>
            <a:br/>
            <a:r>
              <a:t>• Entry-level TTL expiration</a:t>
            </a:r>
            <a:br/>
            <a:r>
              <a:t>• Zero network latency</a:t>
            </a:r>
            <a:br/>
            <a:r>
              <a:t>• Best for single-instance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67EEA"/>
                </a:solidFill>
                <a:latin typeface="Calibri"/>
              </a:defRPr>
            </a:pPr>
            <a:r>
              <a:t>Local  |  No Network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280160"/>
            <a:ext cx="5303520" cy="2011680"/>
          </a:xfrm>
          <a:prstGeom prst="rect">
            <a:avLst/>
          </a:prstGeom>
          <a:solidFill>
            <a:srgbClr val="22223A"/>
          </a:solidFill>
          <a:ln w="19050">
            <a:solidFill>
              <a:srgbClr val="EA66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3716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0F0F0"/>
                </a:solidFill>
                <a:latin typeface="Calibri"/>
              </a:defRPr>
            </a:pPr>
            <a:r>
              <a:t>🔴  Redis (Optional)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alibri"/>
              </a:defRPr>
            </a:pPr>
            <a:r>
              <a:t>• Distributed across instances</a:t>
            </a:r>
            <a:br/>
            <a:r>
              <a:t>• Auto-fallback to memory if down</a:t>
            </a:r>
            <a:br/>
            <a:r>
              <a:t>• Pattern-based key invalidation</a:t>
            </a:r>
            <a:br/>
            <a:r>
              <a:t>• Production-ready scaling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5603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67EEA"/>
                </a:solidFill>
                <a:latin typeface="Calibri"/>
              </a:defRPr>
            </a:pPr>
            <a:r>
              <a:t>Distributed  |  Auto-Fallback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5661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0F0F0"/>
                </a:solidFill>
                <a:latin typeface="Calibri"/>
              </a:defRPr>
            </a:pPr>
            <a:r>
              <a:t>Cache TTL Configuration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977639"/>
            <a:ext cx="2011680" cy="320040"/>
          </a:xfrm>
          <a:prstGeom prst="rect">
            <a:avLst/>
          </a:prstGeom>
          <a:solidFill>
            <a:srgbClr val="2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995927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0F0F0"/>
                </a:solidFill>
                <a:latin typeface="Calibri"/>
              </a:defRPr>
            </a:pPr>
            <a:r>
              <a:t>Cache Type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68880" y="3977639"/>
            <a:ext cx="3657600" cy="320040"/>
          </a:xfrm>
          <a:prstGeom prst="rect">
            <a:avLst/>
          </a:prstGeom>
          <a:solidFill>
            <a:srgbClr val="2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14600" y="3995927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0F0F0"/>
                </a:solidFill>
                <a:latin typeface="Calibri"/>
              </a:defRPr>
            </a:pPr>
            <a:r>
              <a:t>Key Pattern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3977639"/>
            <a:ext cx="2286000" cy="320040"/>
          </a:xfrm>
          <a:prstGeom prst="rect">
            <a:avLst/>
          </a:prstGeom>
          <a:solidFill>
            <a:srgbClr val="2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72200" y="3995927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0F0F0"/>
                </a:solidFill>
                <a:latin typeface="Calibri"/>
              </a:defRPr>
            </a:pPr>
            <a:r>
              <a:t>TTL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0" y="3977639"/>
            <a:ext cx="3657600" cy="320040"/>
          </a:xfrm>
          <a:prstGeom prst="rect">
            <a:avLst/>
          </a:prstGeom>
          <a:solidFill>
            <a:srgbClr val="2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58200" y="3995927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0F0F0"/>
                </a:solidFill>
                <a:latin typeface="Calibri"/>
              </a:defRPr>
            </a:pPr>
            <a:r>
              <a:t>Impact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325111"/>
            <a:ext cx="2011680" cy="292608"/>
          </a:xfrm>
          <a:prstGeom prst="rect">
            <a:avLst/>
          </a:prstGeom>
          <a:solidFill>
            <a:srgbClr val="1E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343399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0C0"/>
                </a:solidFill>
                <a:latin typeface="Calibri"/>
              </a:defRPr>
            </a:pPr>
            <a:r>
              <a:t>📦 User Context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68880" y="4325111"/>
            <a:ext cx="3657600" cy="292608"/>
          </a:xfrm>
          <a:prstGeom prst="rect">
            <a:avLst/>
          </a:prstGeom>
          <a:solidFill>
            <a:srgbClr val="1E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14600" y="4343399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0C0"/>
                </a:solidFill>
                <a:latin typeface="Calibri"/>
              </a:defRPr>
            </a:pPr>
            <a:r>
              <a:t>ctx:user:{id}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0" y="4325111"/>
            <a:ext cx="2286000" cy="292608"/>
          </a:xfrm>
          <a:prstGeom prst="rect">
            <a:avLst/>
          </a:prstGeom>
          <a:solidFill>
            <a:srgbClr val="1E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72200" y="4343399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0C0"/>
                </a:solidFill>
                <a:latin typeface="Calibri"/>
              </a:defRPr>
            </a:pPr>
            <a:r>
              <a:t>5 min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12480" y="4325111"/>
            <a:ext cx="3657600" cy="292608"/>
          </a:xfrm>
          <a:prstGeom prst="rect">
            <a:avLst/>
          </a:prstGeom>
          <a:solidFill>
            <a:srgbClr val="1E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58200" y="4343399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0C0"/>
                </a:solidFill>
                <a:latin typeface="Calibri"/>
              </a:defRPr>
            </a:pPr>
            <a:r>
              <a:t>-95% Supabase queries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617719"/>
            <a:ext cx="2011680" cy="292608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4636007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0C0"/>
                </a:solidFill>
                <a:latin typeface="Calibri"/>
              </a:defRPr>
            </a:pPr>
            <a:r>
              <a:t>🧠 Embeddings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468880" y="4617719"/>
            <a:ext cx="3657600" cy="292608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514600" y="4636007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0C0"/>
                </a:solidFill>
                <a:latin typeface="Calibri"/>
              </a:defRPr>
            </a:pPr>
            <a:r>
              <a:t>emb:{hash}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26480" y="4617719"/>
            <a:ext cx="2286000" cy="292608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72200" y="4636007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0C0"/>
                </a:solidFill>
                <a:latin typeface="Calibri"/>
              </a:defRPr>
            </a:pPr>
            <a:r>
              <a:t>1 hour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12480" y="4617719"/>
            <a:ext cx="3657600" cy="292608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58200" y="4636007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0C0"/>
                </a:solidFill>
                <a:latin typeface="Calibri"/>
              </a:defRPr>
            </a:pPr>
            <a:r>
              <a:t>-90% Cohere API calls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4910327"/>
            <a:ext cx="2011680" cy="292608"/>
          </a:xfrm>
          <a:prstGeom prst="rect">
            <a:avLst/>
          </a:prstGeom>
          <a:solidFill>
            <a:srgbClr val="1E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4928615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0C0"/>
                </a:solidFill>
                <a:latin typeface="Calibri"/>
              </a:defRPr>
            </a:pPr>
            <a:r>
              <a:t>🔎 Vector Search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468880" y="4910327"/>
            <a:ext cx="3657600" cy="292608"/>
          </a:xfrm>
          <a:prstGeom prst="rect">
            <a:avLst/>
          </a:prstGeom>
          <a:solidFill>
            <a:srgbClr val="1E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514600" y="4928615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0C0"/>
                </a:solidFill>
                <a:latin typeface="Calibri"/>
              </a:defRPr>
            </a:pPr>
            <a:r>
              <a:t>vec:search:{hash}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26480" y="4910327"/>
            <a:ext cx="2286000" cy="292608"/>
          </a:xfrm>
          <a:prstGeom prst="rect">
            <a:avLst/>
          </a:prstGeom>
          <a:solidFill>
            <a:srgbClr val="1E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72200" y="4928615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0C0"/>
                </a:solidFill>
                <a:latin typeface="Calibri"/>
              </a:defRPr>
            </a:pPr>
            <a:r>
              <a:t>2 min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412480" y="4910327"/>
            <a:ext cx="3657600" cy="292608"/>
          </a:xfrm>
          <a:prstGeom prst="rect">
            <a:avLst/>
          </a:prstGeom>
          <a:solidFill>
            <a:srgbClr val="1E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58200" y="4928615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0C0"/>
                </a:solidFill>
                <a:latin typeface="Calibri"/>
              </a:defRPr>
            </a:pPr>
            <a:r>
              <a:t>Instant repeat queries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5202934"/>
            <a:ext cx="2011680" cy="292608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5221222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0C0"/>
                </a:solidFill>
                <a:latin typeface="Calibri"/>
              </a:defRPr>
            </a:pPr>
            <a:r>
              <a:t>💬 RAG Response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468880" y="5202934"/>
            <a:ext cx="3657600" cy="292608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514600" y="5221222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0C0"/>
                </a:solidFill>
                <a:latin typeface="Calibri"/>
              </a:defRPr>
            </a:pPr>
            <a:r>
              <a:t>rag:response:{hash}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26480" y="5202934"/>
            <a:ext cx="2286000" cy="292608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72200" y="5221222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0C0"/>
                </a:solidFill>
                <a:latin typeface="Calibri"/>
              </a:defRPr>
            </a:pPr>
            <a:r>
              <a:t>2 min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412480" y="5202934"/>
            <a:ext cx="3657600" cy="292608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458200" y="5221222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0C0"/>
                </a:solidFill>
                <a:latin typeface="Calibri"/>
              </a:defRPr>
            </a:pPr>
            <a:r>
              <a:t>&lt;100ms repeat responses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F0F0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0C0"/>
                </a:solidFill>
                <a:latin typeface="Calibri"/>
              </a:defRPr>
            </a:pPr>
            <a:r>
              <a:t>Languages, frameworks, and tools used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3566160" cy="1554480"/>
          </a:xfrm>
          <a:prstGeom prst="rect">
            <a:avLst/>
          </a:prstGeom>
          <a:solidFill>
            <a:srgbClr val="22223A"/>
          </a:solidFill>
          <a:ln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0F0F0"/>
                </a:solidFill>
                <a:latin typeface="Calibri"/>
              </a:defRPr>
            </a:pPr>
            <a:r>
              <a:t>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280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libri"/>
              </a:defRPr>
            </a:pPr>
            <a:r>
              <a:t>Python 3.11+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459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Calibri"/>
              </a:defRPr>
            </a:pPr>
            <a:r>
              <a:t>Async runtime with asyncio &amp; httpx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945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7EEA"/>
                </a:solidFill>
                <a:latin typeface="Calibri"/>
              </a:defRPr>
            </a:pPr>
            <a:r>
              <a:t>  asyncio · pydantic · httpx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188720"/>
            <a:ext cx="3566160" cy="1554480"/>
          </a:xfrm>
          <a:prstGeom prst="rect">
            <a:avLst/>
          </a:prstGeom>
          <a:solidFill>
            <a:srgbClr val="22223A"/>
          </a:solidFill>
          <a:ln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12801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0F0F0"/>
                </a:solidFill>
                <a:latin typeface="Calibri"/>
              </a:defRPr>
            </a:pPr>
            <a:r>
              <a:t>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1280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libri"/>
              </a:defRPr>
            </a:pPr>
            <a:r>
              <a:t>FastAPI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16459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Calibri"/>
              </a:defRPr>
            </a:pPr>
            <a:r>
              <a:t>REST framework with OpenAPI &amp; SSE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21945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7EEA"/>
                </a:solidFill>
                <a:latin typeface="Calibri"/>
              </a:defRPr>
            </a:pPr>
            <a:r>
              <a:t>  REST · SSE · CORS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1188720"/>
            <a:ext cx="3566160" cy="1554480"/>
          </a:xfrm>
          <a:prstGeom prst="rect">
            <a:avLst/>
          </a:prstGeom>
          <a:solidFill>
            <a:srgbClr val="22223A"/>
          </a:solidFill>
          <a:ln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80" y="12801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0F0F0"/>
                </a:solidFill>
                <a:latin typeface="Calibri"/>
              </a:defRPr>
            </a:pPr>
            <a:r>
              <a:t>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1080" y="1280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libri"/>
              </a:defRPr>
            </a:pPr>
            <a:r>
              <a:t>LangChain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80" y="16459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Calibri"/>
              </a:defRPr>
            </a:pPr>
            <a:r>
              <a:t>RAG pipeline with composable chains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80" y="21945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7EEA"/>
                </a:solidFill>
                <a:latin typeface="Calibri"/>
              </a:defRPr>
            </a:pPr>
            <a:r>
              <a:t>  LCEL · Prompts · Runnables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971800"/>
            <a:ext cx="3566160" cy="1554480"/>
          </a:xfrm>
          <a:prstGeom prst="rect">
            <a:avLst/>
          </a:prstGeom>
          <a:solidFill>
            <a:srgbClr val="22223A"/>
          </a:solidFill>
          <a:ln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063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0F0F0"/>
                </a:solidFill>
                <a:latin typeface="Calibri"/>
              </a:defRPr>
            </a:pPr>
            <a:r>
              <a:t>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3063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libri"/>
              </a:defRPr>
            </a:pPr>
            <a:r>
              <a:t>Cohere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4290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Calibri"/>
              </a:defRPr>
            </a:pPr>
            <a:r>
              <a:t>Multilingual LLM + embeddings 3.0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9776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7EEA"/>
                </a:solidFill>
                <a:latin typeface="Calibri"/>
              </a:defRPr>
            </a:pPr>
            <a:r>
              <a:t>  command-a · embed-v3.0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6240" y="2971800"/>
            <a:ext cx="3566160" cy="1554480"/>
          </a:xfrm>
          <a:prstGeom prst="rect">
            <a:avLst/>
          </a:prstGeom>
          <a:solidFill>
            <a:srgbClr val="22223A"/>
          </a:solidFill>
          <a:ln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43400" y="3063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0F0F0"/>
                </a:solidFill>
                <a:latin typeface="Calibri"/>
              </a:defRPr>
            </a:pPr>
            <a:r>
              <a:t>🗄️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00600" y="3063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libri"/>
              </a:defRPr>
            </a:pPr>
            <a:r>
              <a:t>Supabase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34290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Calibri"/>
              </a:defRPr>
            </a:pPr>
            <a:r>
              <a:t>PostgreSQL + REST + RLS policies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43400" y="39776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7EEA"/>
                </a:solidFill>
                <a:latin typeface="Calibri"/>
              </a:defRPr>
            </a:pPr>
            <a:r>
              <a:t>  23 tables · Row Level Security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46720" y="2971800"/>
            <a:ext cx="3566160" cy="1554480"/>
          </a:xfrm>
          <a:prstGeom prst="rect">
            <a:avLst/>
          </a:prstGeom>
          <a:solidFill>
            <a:srgbClr val="22223A"/>
          </a:solidFill>
          <a:ln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83880" y="3063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0F0F0"/>
                </a:solidFill>
                <a:latin typeface="Calibri"/>
              </a:defRPr>
            </a:pPr>
            <a:r>
              <a:t>🔎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41080" y="3063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libri"/>
              </a:defRPr>
            </a:pPr>
            <a:r>
              <a:t>FAISS (Meta)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83880" y="34290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Calibri"/>
              </a:defRPr>
            </a:pPr>
            <a:r>
              <a:t>Vector search via Inner Product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83880" y="39776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7EEA"/>
                </a:solidFill>
                <a:latin typeface="Calibri"/>
              </a:defRPr>
            </a:pPr>
            <a:r>
              <a:t>  IndexFlatIP · 1024 dim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4754880"/>
            <a:ext cx="3566160" cy="1554480"/>
          </a:xfrm>
          <a:prstGeom prst="rect">
            <a:avLst/>
          </a:prstGeom>
          <a:solidFill>
            <a:srgbClr val="22223A"/>
          </a:solidFill>
          <a:ln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4846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0F0F0"/>
                </a:solidFill>
                <a:latin typeface="Calibri"/>
              </a:defRPr>
            </a:pPr>
            <a:r>
              <a:t>⚡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" y="48463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libri"/>
              </a:defRPr>
            </a:pPr>
            <a:r>
              <a:t>Redis (Opt.)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52120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Calibri"/>
              </a:defRPr>
            </a:pPr>
            <a:r>
              <a:t>Distributed cache with auto-fallback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57607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7EEA"/>
                </a:solidFill>
                <a:latin typeface="Calibri"/>
              </a:defRPr>
            </a:pPr>
            <a:r>
              <a:t>  Key expiry · Pattern invalidation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06240" y="4754880"/>
            <a:ext cx="3566160" cy="1554480"/>
          </a:xfrm>
          <a:prstGeom prst="rect">
            <a:avLst/>
          </a:prstGeom>
          <a:solidFill>
            <a:srgbClr val="22223A"/>
          </a:solidFill>
          <a:ln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43400" y="4846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0F0F0"/>
                </a:solidFill>
                <a:latin typeface="Calibri"/>
              </a:defRPr>
            </a:pPr>
            <a:r>
              <a:t>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00600" y="48463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libri"/>
              </a:defRPr>
            </a:pPr>
            <a:r>
              <a:t>Playwright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43400" y="52120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Calibri"/>
              </a:defRPr>
            </a:pPr>
            <a:r>
              <a:t>Headless browser for SPA ingestion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43400" y="57607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7EEA"/>
                </a:solidFill>
                <a:latin typeface="Calibri"/>
              </a:defRPr>
            </a:pPr>
            <a:r>
              <a:t>  Headless · Route extraction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46720" y="4754880"/>
            <a:ext cx="3566160" cy="1554480"/>
          </a:xfrm>
          <a:prstGeom prst="rect">
            <a:avLst/>
          </a:prstGeom>
          <a:solidFill>
            <a:srgbClr val="22223A"/>
          </a:solidFill>
          <a:ln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183880" y="4846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0F0F0"/>
                </a:solidFill>
                <a:latin typeface="Calibri"/>
              </a:defRPr>
            </a:pPr>
            <a:r>
              <a:t>🌐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41080" y="48463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libri"/>
              </a:defRPr>
            </a:pPr>
            <a:r>
              <a:t>Uvicorn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83880" y="52120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Calibri"/>
              </a:defRPr>
            </a:pPr>
            <a:r>
              <a:t>High-performance ASGI server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83880" y="57607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7EEA"/>
                </a:solidFill>
                <a:latin typeface="Calibri"/>
              </a:defRPr>
            </a:pPr>
            <a:r>
              <a:t>  ASGI · HTTP/2 · Hot reload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F0F0"/>
                </a:solidFill>
                <a:latin typeface="Calibri"/>
              </a:defRPr>
            </a:pPr>
            <a:r>
              <a:t>Data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0C0"/>
                </a:solidFill>
                <a:latin typeface="Calibri"/>
              </a:defRPr>
            </a:pPr>
            <a:r>
              <a:t>Request lifecycle from user to AI response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1188720"/>
            <a:ext cx="3931920" cy="640080"/>
          </a:xfrm>
          <a:prstGeom prst="rect">
            <a:avLst/>
          </a:prstGeom>
          <a:solidFill>
            <a:srgbClr val="282848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0" y="12344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0F0F0"/>
                </a:solidFill>
                <a:latin typeface="Calibri"/>
              </a:defRPr>
            </a:pPr>
            <a:r>
              <a:t>👤  User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5544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07080"/>
                </a:solidFill>
                <a:latin typeface="Calibri"/>
              </a:defRPr>
            </a:pPr>
            <a:r>
              <a:t>Asks (Arabic / English)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87451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67EEA"/>
                </a:solidFill>
                <a:latin typeface="Calibri"/>
              </a:defRPr>
            </a:pPr>
            <a:r>
              <a:t>⬇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2194560"/>
            <a:ext cx="5760720" cy="457200"/>
          </a:xfrm>
          <a:prstGeom prst="rect">
            <a:avLst/>
          </a:prstGeom>
          <a:solidFill>
            <a:srgbClr val="282848"/>
          </a:solidFill>
          <a:ln>
            <a:solidFill>
              <a:srgbClr val="764B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22402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0F0F0"/>
                </a:solidFill>
                <a:latin typeface="Calibri"/>
              </a:defRPr>
            </a:pPr>
            <a:r>
              <a:t>⚡  FastAPI  →  🔀  Router  →  decide mode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697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7EEA"/>
                </a:solidFill>
                <a:latin typeface="Calibri"/>
              </a:defRPr>
            </a:pPr>
            <a:r>
              <a:t>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017520"/>
            <a:ext cx="3291840" cy="822960"/>
          </a:xfrm>
          <a:prstGeom prst="rect">
            <a:avLst/>
          </a:prstGeom>
          <a:solidFill>
            <a:srgbClr val="22223A"/>
          </a:solidFill>
          <a:ln>
            <a:solidFill>
              <a:srgbClr val="3BC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0632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CA7E"/>
                </a:solidFill>
                <a:latin typeface="Calibri"/>
              </a:defRPr>
            </a:pPr>
            <a:r>
              <a:t>🗄️  Supabase Only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3375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Calibri"/>
              </a:defRPr>
            </a:pPr>
            <a:r>
              <a:t>  23 tables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63440" y="3017520"/>
            <a:ext cx="3291840" cy="822960"/>
          </a:xfrm>
          <a:prstGeom prst="rect">
            <a:avLst/>
          </a:prstGeom>
          <a:solidFill>
            <a:srgbClr val="22223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0" y="30632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67EEA"/>
                </a:solidFill>
                <a:latin typeface="Calibri"/>
              </a:defRPr>
            </a:pPr>
            <a:r>
              <a:t>🔎  Vector Only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33375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Calibri"/>
              </a:defRPr>
            </a:pPr>
            <a:r>
              <a:t>  FAISS DB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0" y="3017520"/>
            <a:ext cx="3291840" cy="822960"/>
          </a:xfrm>
          <a:prstGeom prst="rect">
            <a:avLst/>
          </a:prstGeom>
          <a:solidFill>
            <a:srgbClr val="22223A"/>
          </a:solidFill>
          <a:ln>
            <a:solidFill>
              <a:srgbClr val="EA66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0" y="30632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A667E"/>
                </a:solidFill>
                <a:latin typeface="Calibri"/>
              </a:defRPr>
            </a:pPr>
            <a:r>
              <a:t>🔄  Hybrid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33375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Calibri"/>
              </a:defRPr>
            </a:pPr>
            <a:r>
              <a:t>  Both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3886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7EEA"/>
                </a:solidFill>
                <a:latin typeface="Calibri"/>
              </a:defRPr>
            </a:pPr>
            <a:r>
              <a:t>⬇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71600" y="4206240"/>
            <a:ext cx="9418320" cy="548640"/>
          </a:xfrm>
          <a:prstGeom prst="rect">
            <a:avLst/>
          </a:prstGeom>
          <a:solidFill>
            <a:srgbClr val="282848"/>
          </a:solidFill>
          <a:ln>
            <a:solidFill>
              <a:srgbClr val="764B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554480" y="4251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0F0F0"/>
                </a:solidFill>
                <a:latin typeface="Calibri"/>
              </a:defRPr>
            </a:pPr>
            <a:r>
              <a:t>🧠  RAG Engine  —  Assemble Context  ➔  Cohere LLM  ➔  Clean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4800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7EEA"/>
                </a:solidFill>
                <a:latin typeface="Calibri"/>
              </a:defRPr>
            </a:pPr>
            <a:r>
              <a:t>⬇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120640"/>
            <a:ext cx="5029200" cy="457200"/>
          </a:xfrm>
          <a:prstGeom prst="rect">
            <a:avLst/>
          </a:prstGeom>
          <a:solidFill>
            <a:srgbClr val="22223A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166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C107"/>
                </a:solidFill>
                <a:latin typeface="Calibri"/>
              </a:defRPr>
            </a:pPr>
            <a:r>
              <a:t>⚡  Cache (2-min TTL)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75120" y="5120640"/>
            <a:ext cx="5029200" cy="457200"/>
          </a:xfrm>
          <a:prstGeom prst="rect">
            <a:avLst/>
          </a:prstGeom>
          <a:solidFill>
            <a:srgbClr val="22223A"/>
          </a:solidFill>
          <a:ln>
            <a:solidFill>
              <a:srgbClr val="3BC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0" y="5166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BCA7E"/>
                </a:solidFill>
                <a:latin typeface="Calibri"/>
              </a:defRPr>
            </a:pPr>
            <a:r>
              <a:t>💬  Response (JSON / SSE)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760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07080"/>
                </a:solidFill>
                <a:latin typeface="Calibri"/>
              </a:defRPr>
            </a:pPr>
            <a:r>
              <a:t>📥  Ingestion Engine (SPA / Static Sites)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5760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07080"/>
                </a:solidFill>
                <a:latin typeface="Calibri"/>
              </a:defRPr>
            </a:pPr>
            <a:r>
              <a:t>🧮  Model2 Router (ML Predictions)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F0F0"/>
                </a:solidFill>
                <a:latin typeface="Calibri"/>
              </a:defRPr>
            </a:pPr>
            <a:r>
              <a:t>Performance &amp;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0C0"/>
                </a:solidFill>
                <a:latin typeface="Calibri"/>
              </a:defRPr>
            </a:pPr>
            <a:r>
              <a:t>Key metrics and how we achieve them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560320" cy="1005840"/>
          </a:xfrm>
          <a:prstGeom prst="rect">
            <a:avLst/>
          </a:prstGeom>
          <a:solidFill>
            <a:srgbClr val="22223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667EEA"/>
                </a:solidFill>
                <a:latin typeface="Calibri"/>
              </a:defRPr>
            </a:pPr>
            <a:r>
              <a:t>&lt; 1.5s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0C0"/>
                </a:solidFill>
                <a:latin typeface="Calibri"/>
              </a:defRPr>
            </a:pPr>
            <a:r>
              <a:t>Avg response</a:t>
            </a:r>
          </a:p>
        </p:txBody>
      </p:sp>
      <p:sp>
        <p:nvSpPr>
          <p:cNvPr id="8" name="Rectangle 7"/>
          <p:cNvSpPr/>
          <p:nvPr/>
        </p:nvSpPr>
        <p:spPr>
          <a:xfrm>
            <a:off x="3337560" y="1280160"/>
            <a:ext cx="2560320" cy="1005840"/>
          </a:xfrm>
          <a:prstGeom prst="rect">
            <a:avLst/>
          </a:prstGeom>
          <a:solidFill>
            <a:srgbClr val="22223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1371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667EEA"/>
                </a:solidFill>
                <a:latin typeface="Calibri"/>
              </a:defRPr>
            </a:pPr>
            <a:r>
              <a:t>&lt; 100ms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18288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0C0"/>
                </a:solidFill>
                <a:latin typeface="Calibri"/>
              </a:defRPr>
            </a:pPr>
            <a:r>
              <a:t>Cached response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280160"/>
            <a:ext cx="2560320" cy="1005840"/>
          </a:xfrm>
          <a:prstGeom prst="rect">
            <a:avLst/>
          </a:prstGeom>
          <a:solidFill>
            <a:srgbClr val="22223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371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667EEA"/>
                </a:solidFill>
                <a:latin typeface="Calibri"/>
              </a:defRPr>
            </a:pPr>
            <a:r>
              <a:t>95%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8288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0C0"/>
                </a:solidFill>
                <a:latin typeface="Calibri"/>
              </a:defRPr>
            </a:pPr>
            <a:r>
              <a:t>Supabase saved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98280" y="1280160"/>
            <a:ext cx="2560320" cy="1005840"/>
          </a:xfrm>
          <a:prstGeom prst="rect">
            <a:avLst/>
          </a:prstGeom>
          <a:solidFill>
            <a:srgbClr val="22223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89720" y="1371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667EEA"/>
                </a:solidFill>
                <a:latin typeface="Calibri"/>
              </a:defRPr>
            </a:pPr>
            <a:r>
              <a:t>90%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9720" y="18288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0C0"/>
                </a:solidFill>
                <a:latin typeface="Calibri"/>
              </a:defRPr>
            </a:pPr>
            <a:r>
              <a:t>Cohere calls saved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560320"/>
            <a:ext cx="5303520" cy="1828800"/>
          </a:xfrm>
          <a:prstGeom prst="rect">
            <a:avLst/>
          </a:prstGeom>
          <a:solidFill>
            <a:srgbClr val="22223A"/>
          </a:solidFill>
          <a:ln>
            <a:solidFill>
              <a:srgbClr val="3BC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6517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F0F0"/>
                </a:solidFill>
                <a:latin typeface="Calibri"/>
              </a:defRPr>
            </a:pPr>
            <a:r>
              <a:t>⚡  Caching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0175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alibri"/>
              </a:defRPr>
            </a:pPr>
            <a:r>
              <a:t>• User context (5-min TTL)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3375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alibri"/>
              </a:defRPr>
            </a:pPr>
            <a:r>
              <a:t>• Embeddings (1-hour TTL)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6576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alibri"/>
              </a:defRPr>
            </a:pPr>
            <a:r>
              <a:t>• Search results (2-min TTL)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977639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alibri"/>
              </a:defRPr>
            </a:pPr>
            <a:r>
              <a:t>• Full response (2-min TTL)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2560320"/>
            <a:ext cx="5303520" cy="1828800"/>
          </a:xfrm>
          <a:prstGeom prst="rect">
            <a:avLst/>
          </a:prstGeom>
          <a:solidFill>
            <a:srgbClr val="22223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26517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F0F0"/>
                </a:solidFill>
                <a:latin typeface="Calibri"/>
              </a:defRPr>
            </a:pPr>
            <a:r>
              <a:t>🔧  Architecture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0175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alibri"/>
              </a:defRPr>
            </a:pPr>
            <a:r>
              <a:t>• Embedding batching (size: 96)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3375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alibri"/>
              </a:defRPr>
            </a:pPr>
            <a:r>
              <a:t>• Exponential backoff on rate limits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6576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alibri"/>
              </a:defRPr>
            </a:pPr>
            <a:r>
              <a:t>• Vector store pre-loaded on startup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3977639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alibri"/>
              </a:defRPr>
            </a:pPr>
            <a:r>
              <a:t>• Route-prioritized document retrieval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754880"/>
            <a:ext cx="11247120" cy="914400"/>
          </a:xfrm>
          <a:prstGeom prst="rect">
            <a:avLst/>
          </a:prstGeom>
          <a:solidFill>
            <a:srgbClr val="1E1E3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4846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0C0"/>
                </a:solidFill>
                <a:latin typeface="Calibri"/>
              </a:defRPr>
            </a:pPr>
            <a:r>
              <a:t>🎯  Goal: Fast response &lt; 1.5s with high accuracy in Arabic &amp; English,</a:t>
            </a:r>
            <a:br/>
            <a:r>
              <a:t>delivering personalized answers from real user data + fitness knowledge.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F0F0"/>
                </a:solidFill>
                <a:latin typeface="Calibri"/>
              </a:defRPr>
            </a:pPr>
            <a: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0C0"/>
                </a:solidFill>
                <a:latin typeface="Calibri"/>
              </a:defRPr>
            </a:pPr>
            <a:r>
              <a:t>What makes FitMentor unique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2697480" cy="2194560"/>
          </a:xfrm>
          <a:prstGeom prst="rect">
            <a:avLst/>
          </a:prstGeom>
          <a:solidFill>
            <a:srgbClr val="22223A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8988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0F0F0"/>
                </a:solidFill>
                <a:latin typeface="Calibri"/>
              </a:defRPr>
            </a:pPr>
            <a:r>
              <a:t>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389888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0F0"/>
                </a:solidFill>
                <a:latin typeface="Calibri"/>
              </a:defRPr>
            </a:pPr>
            <a:r>
              <a:t>Bilingual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23317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Calibri"/>
              </a:defRPr>
            </a:pPr>
            <a:r>
              <a:t>Automatic Arabic/English detection &amp; response in same language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1280160"/>
            <a:ext cx="2697480" cy="2194560"/>
          </a:xfrm>
          <a:prstGeom prst="rect">
            <a:avLst/>
          </a:prstGeom>
          <a:solidFill>
            <a:srgbClr val="22223A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138988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0F0F0"/>
                </a:solidFill>
                <a:latin typeface="Calibri"/>
              </a:defRPr>
            </a:pPr>
            <a:r>
              <a:t>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1389888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0F0"/>
                </a:solidFill>
                <a:latin typeface="Calibri"/>
              </a:defRPr>
            </a:pPr>
            <a:r>
              <a:t>RLS Security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1737360"/>
            <a:ext cx="23317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Calibri"/>
              </a:defRPr>
            </a:pPr>
            <a:r>
              <a:t>Row Level Security via Supabase protecting all user data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280160"/>
            <a:ext cx="2697480" cy="2194560"/>
          </a:xfrm>
          <a:prstGeom prst="rect">
            <a:avLst/>
          </a:prstGeom>
          <a:solidFill>
            <a:srgbClr val="22223A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38988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0F0F0"/>
                </a:solidFill>
                <a:latin typeface="Calibri"/>
              </a:defRPr>
            </a:pPr>
            <a:r>
              <a:t>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1389888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0F0"/>
                </a:solidFill>
                <a:latin typeface="Calibri"/>
              </a:defRPr>
            </a:pPr>
            <a:r>
              <a:t>Personalized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1737360"/>
            <a:ext cx="23317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Calibri"/>
              </a:defRPr>
            </a:pPr>
            <a:r>
              <a:t>Tailored using real InBody, profile, workouts &amp; meal history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06840" y="1280160"/>
            <a:ext cx="2697480" cy="2194560"/>
          </a:xfrm>
          <a:prstGeom prst="rect">
            <a:avLst/>
          </a:prstGeom>
          <a:solidFill>
            <a:srgbClr val="22223A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89720" y="138988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0F0F0"/>
                </a:solidFill>
                <a:latin typeface="Calibri"/>
              </a:defRPr>
            </a:pPr>
            <a:r>
              <a:t>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55480" y="1389888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0F0"/>
                </a:solidFill>
                <a:latin typeface="Calibri"/>
              </a:defRPr>
            </a:pPr>
            <a:r>
              <a:t>Live Streaming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20" y="1737360"/>
            <a:ext cx="23317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Calibri"/>
              </a:defRPr>
            </a:pPr>
            <a:r>
              <a:t>SSE character-by-character streaming for smooth UX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749039"/>
            <a:ext cx="2697480" cy="2194560"/>
          </a:xfrm>
          <a:prstGeom prst="rect">
            <a:avLst/>
          </a:prstGeom>
          <a:solidFill>
            <a:srgbClr val="22223A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858767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0F0F0"/>
                </a:solidFill>
                <a:latin typeface="Calibri"/>
              </a:defRPr>
            </a:pPr>
            <a:r>
              <a:t>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3858767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0F0"/>
                </a:solidFill>
                <a:latin typeface="Calibri"/>
              </a:defRPr>
            </a:pPr>
            <a:r>
              <a:t>Auto Ingestion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206239"/>
            <a:ext cx="23317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Calibri"/>
              </a:defRPr>
            </a:pPr>
            <a:r>
              <a:t>Imports website &amp; SPA content into knowledge base automatically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46120" y="3749039"/>
            <a:ext cx="2697480" cy="2194560"/>
          </a:xfrm>
          <a:prstGeom prst="rect">
            <a:avLst/>
          </a:prstGeom>
          <a:solidFill>
            <a:srgbClr val="22223A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29000" y="3858767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0F0F0"/>
                </a:solidFill>
                <a:latin typeface="Calibri"/>
              </a:defRPr>
            </a:pPr>
            <a:r>
              <a:t>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94760" y="3858767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0F0"/>
                </a:solidFill>
                <a:latin typeface="Calibri"/>
              </a:defRPr>
            </a:pPr>
            <a:r>
              <a:t>Chat History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4206239"/>
            <a:ext cx="23317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Calibri"/>
              </a:defRPr>
            </a:pPr>
            <a:r>
              <a:t>Full conversation management with Supabase + memory fallback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26480" y="3749039"/>
            <a:ext cx="2697480" cy="2194560"/>
          </a:xfrm>
          <a:prstGeom prst="rect">
            <a:avLst/>
          </a:prstGeom>
          <a:solidFill>
            <a:srgbClr val="22223A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0" y="3858767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0F0F0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3858767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0F0"/>
                </a:solidFill>
                <a:latin typeface="Calibri"/>
              </a:defRPr>
            </a:pPr>
            <a:r>
              <a:t>ML Powered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4206239"/>
            <a:ext cx="23317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Calibri"/>
              </a:defRPr>
            </a:pPr>
            <a:r>
              <a:t>Connected to Model2 for predictions &amp; advanced analytics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006840" y="3749039"/>
            <a:ext cx="2697480" cy="2194560"/>
          </a:xfrm>
          <a:prstGeom prst="rect">
            <a:avLst/>
          </a:prstGeom>
          <a:solidFill>
            <a:srgbClr val="22223A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89720" y="3858767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0F0F0"/>
                </a:solidFill>
                <a:latin typeface="Calibri"/>
              </a:defRPr>
            </a:pPr>
            <a:r>
              <a:t>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55480" y="3858767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0F0"/>
                </a:solidFill>
                <a:latin typeface="Calibri"/>
              </a:defRPr>
            </a:pPr>
            <a:r>
              <a:t>Clean Output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89720" y="4206239"/>
            <a:ext cx="23317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Calibri"/>
              </a:defRPr>
            </a:pPr>
            <a:r>
              <a:t>Auto-removes markdown for readable plain-text responses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F0F0"/>
                </a:solidFill>
                <a:latin typeface="Calibri"/>
              </a:defRPr>
            </a:pPr>
            <a: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0C0"/>
                </a:solidFill>
                <a:latin typeface="Calibri"/>
              </a:defRPr>
            </a:pPr>
            <a:r>
              <a:t>Completed &amp; upcoming milestones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303520" cy="3657600"/>
          </a:xfrm>
          <a:prstGeom prst="rect">
            <a:avLst/>
          </a:prstGeom>
          <a:solidFill>
            <a:srgbClr val="22223A"/>
          </a:solidFill>
          <a:ln w="19050">
            <a:solidFill>
              <a:srgbClr val="3BC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3BCA7E"/>
                </a:solidFill>
                <a:latin typeface="Calibri"/>
              </a:defRPr>
            </a:pPr>
            <a:r>
              <a:t>✅  Completed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alibri"/>
              </a:defRPr>
            </a:pPr>
            <a:r>
              <a:t>✅  Hybrid RAG (Supabase + FAISS)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3055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alibri"/>
              </a:defRPr>
            </a:pPr>
            <a:r>
              <a:t>✅  Multi-tier caching (RAM + Redis)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78024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alibri"/>
              </a:defRPr>
            </a:pPr>
            <a:r>
              <a:t>✅  Arabic + English support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825496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alibri"/>
              </a:defRPr>
            </a:pPr>
            <a:r>
              <a:t>✅  SPA content ingestion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17296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alibri"/>
              </a:defRPr>
            </a:pPr>
            <a:r>
              <a:t>✅  SSE live streaming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520439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alibri"/>
              </a:defRPr>
            </a:pPr>
            <a:r>
              <a:t>✅  InBody scan integration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86791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alibri"/>
              </a:defRPr>
            </a:pPr>
            <a:r>
              <a:t>✅  Personalized recommendations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215384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alibri"/>
              </a:defRPr>
            </a:pPr>
            <a:r>
              <a:t>✅  Conversation history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1280160"/>
            <a:ext cx="5303520" cy="3657600"/>
          </a:xfrm>
          <a:prstGeom prst="rect">
            <a:avLst/>
          </a:prstGeom>
          <a:solidFill>
            <a:srgbClr val="22223A"/>
          </a:solidFill>
          <a:ln w="1905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13716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FFC107"/>
                </a:solidFill>
                <a:latin typeface="Calibri"/>
              </a:defRPr>
            </a:pPr>
            <a:r>
              <a:t>🔄  In Development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17830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alibri"/>
              </a:defRPr>
            </a:pPr>
            <a:r>
              <a:t>🔄  Image/video in responses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13055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alibri"/>
              </a:defRPr>
            </a:pPr>
            <a:r>
              <a:t>🔄  Long-term memory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2478024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alibri"/>
              </a:defRPr>
            </a:pPr>
            <a:r>
              <a:t>🔄  Multi-modal RAG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2825496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alibri"/>
              </a:defRPr>
            </a:pPr>
            <a:r>
              <a:t>🔄  Sentiment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317296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alibri"/>
              </a:defRPr>
            </a:pPr>
            <a:r>
              <a:t>🔄  Voice recommendations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3520439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alibri"/>
              </a:defRPr>
            </a:pPr>
            <a:r>
              <a:t>🔄  Apple Health / Google Fit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386791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alibri"/>
              </a:defRPr>
            </a:pPr>
            <a:r>
              <a:t>🔄  Analytics dashboard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4215384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Calibri"/>
              </a:defRPr>
            </a:pPr>
            <a:r>
              <a:t>🔄  Coach-specific AI tools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212080"/>
            <a:ext cx="11247120" cy="914400"/>
          </a:xfrm>
          <a:prstGeom prst="rect">
            <a:avLst/>
          </a:prstGeom>
          <a:solidFill>
            <a:srgbClr val="1E1E3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303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0C0"/>
                </a:solidFill>
                <a:latin typeface="Calibri"/>
              </a:defRPr>
            </a:pPr>
            <a:r>
              <a:t>🎯  Vision: A continuously learning coach that deeply understands each user</a:t>
            </a:r>
            <a:br/>
            <a:r>
              <a:t>and adapts to their physiological &amp; psychological changes over time.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0">
                <a:solidFill>
                  <a:srgbClr val="F0F0F0"/>
                </a:solidFill>
                <a:latin typeface="Calibri"/>
              </a:defRPr>
            </a:pPr>
            <a:r>
              <a:t>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0F0F0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566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B0B0C0"/>
                </a:solidFill>
                <a:latin typeface="Calibri"/>
              </a:defRPr>
            </a:pPr>
            <a:r>
              <a:t>شكراً للمتابعة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1148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707080"/>
                </a:solidFill>
                <a:latin typeface="Calibri"/>
              </a:defRPr>
            </a:pPr>
            <a:r>
              <a:t>FitMentor AI Chatbot  v4.0.0  •  Hybrid RAG System</a:t>
            </a:r>
            <a:br/>
            <a:r>
              <a:t>FastAPI  ·  LangChain  ·  Cohere  ·  FAISS  ·  Supabase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0" y="5120640"/>
            <a:ext cx="3931920" cy="548640"/>
          </a:xfrm>
          <a:prstGeom prst="rect">
            <a:avLst/>
          </a:prstGeom>
          <a:solidFill>
            <a:srgbClr val="2A2A50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0" y="516636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667EEA"/>
                </a:solidFill>
                <a:latin typeface="Calibri"/>
              </a:defRPr>
            </a:pPr>
            <a:r>
              <a:t>🚀  Ready for Production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