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  <a:latin typeface="Calibri"/>
              </a:defRPr>
            </a:pPr>
            <a:r>
              <a:t>v4.0.0  |  Hybrid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0F0F0"/>
                </a:solidFill>
                <a:latin typeface="Calibri"/>
              </a:defRPr>
            </a:pPr>
            <a:r>
              <a:t>🤖  FitMentor AI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C0"/>
                </a:solidFill>
                <a:latin typeface="Calibri"/>
              </a:defRPr>
            </a:pPr>
            <a:r>
              <a:t>Intelligent Fitness &amp; Nutrition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07080"/>
                </a:solidFill>
                <a:latin typeface="Calibri"/>
              </a:defRPr>
            </a:pPr>
            <a:r>
              <a:t>Hybrid RAG  •  Arabic / English  •  Streaming  •  Personalized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LangChain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Cohere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FAISS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Redis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8 core modules powering the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Query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Classifies each query into 4 modes: Supabase Only (personal data), Vector Only (knowledge), Hybrid (both), or Off-Topic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RAG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73736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LangChain pipeline: routes → retrieves → assembles context → generates response via Cohere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Context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Fetches &amp; caches user data from all 23 Supabase tables (profile, InBody, workouts, meals, social)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28016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Vector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73736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FAISS index + Cohere multilingual embeddings for semantic search across fitness knowledge 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95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959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Cache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434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4-level caching (context, embeddings, search, responses) with In-Memory + optional Redis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88620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995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9959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Ingestion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3434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Auto-imports static sites &amp; SPA content via Playwright into the vector knowledge 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88620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995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9959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Supabase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3434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7 specialized modules: Users, Workouts, Meals, Coaches, Social, Library,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388620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3995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9959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Chat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3434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REST endpoints with SSE streaming, conversation history, and message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End-to-end flow: User ➔ AI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280160"/>
            <a:ext cx="3931920" cy="640080"/>
          </a:xfrm>
          <a:prstGeom prst="rect">
            <a:avLst/>
          </a:prstGeom>
          <a:solidFill>
            <a:srgbClr val="252545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F0F0"/>
                </a:solidFill>
                <a:latin typeface="Calibri"/>
              </a:defRPr>
            </a:pPr>
            <a:r>
              <a:t>🌐  Frontend (React / Mobile)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solidFill>
            <a:srgbClr val="282848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0"/>
                </a:solidFill>
                <a:latin typeface="Calibri"/>
              </a:defRPr>
            </a:pPr>
            <a:r>
              <a:t>⚡  FastAPI Backend  →  🔀  Query Router  (classifies query → decides retrieval mode)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329184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CA7E"/>
                </a:solidFill>
                <a:latin typeface="Calibri"/>
              </a:defRPr>
            </a:pPr>
            <a:r>
              <a:t>🗄️  Supabase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Personal data from 23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3200400"/>
            <a:ext cx="329184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🔎  Vector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FAISS knowledge 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200400"/>
            <a:ext cx="329184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667E"/>
                </a:solidFill>
                <a:latin typeface="Calibri"/>
              </a:defRPr>
            </a:pPr>
            <a:r>
              <a:t>🔄  Hybrid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Supabase + FAISS combined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solidFill>
            <a:srgbClr val="282848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0"/>
                </a:solidFill>
                <a:latin typeface="Calibri"/>
              </a:defRPr>
            </a:pPr>
            <a:r>
              <a:t>🧠  Hybrid RAG Engine (LangChain)  —  Context Assembly  ➔  Prompt  ➔  Cohere LLM  ➔  Clean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920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📦 Context Builder  |  🎯 Prompt Formatting  |  🤖 Cohere command-a  |  🧹 Markdown Removal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5029200" cy="548640"/>
          </a:xfrm>
          <a:prstGeom prst="rect">
            <a:avLst/>
          </a:prstGeom>
          <a:solidFill>
            <a:srgbClr val="22223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C107"/>
                </a:solidFill>
                <a:latin typeface="Calibri"/>
              </a:defRPr>
            </a:pPr>
            <a:r>
              <a:t>⚡  Cache Layer (2-min TTL)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577840"/>
            <a:ext cx="5029200" cy="54864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CA7E"/>
                </a:solidFill>
                <a:latin typeface="Calibri"/>
              </a:defRPr>
            </a:pPr>
            <a:r>
              <a:t>💬  Response (JSON / SSE Stream)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Intelligent Query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Keyword-scoring decides retrieval strategy per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2286000"/>
          </a:xfrm>
          <a:prstGeom prst="rect">
            <a:avLst/>
          </a:prstGeom>
          <a:solidFill>
            <a:srgbClr val="22223A"/>
          </a:solidFill>
          <a:ln w="19050"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91440" cy="91440"/>
          </a:xfrm>
          <a:prstGeom prst="rect">
            <a:avLst/>
          </a:prstGeom>
          <a:solidFill>
            <a:srgbClr val="3BC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Supabase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Arabic: "وزني", "هدفي", "إنبودي"</a:t>
            </a:r>
            <a:br/>
            <a:r>
              <a:t>English: "my weight", "my goal", "my data"</a:t>
            </a:r>
            <a:br/>
            <a:r>
              <a:t>→ Reads profile, InBody, workouts from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486400" cy="2286000"/>
          </a:xfrm>
          <a:prstGeom prst="rect">
            <a:avLst/>
          </a:prstGeom>
          <a:solidFill>
            <a:srgbClr val="22223A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91440" cy="91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89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Vector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Arabic: "ما هو", "كيف", "الفرق بين"</a:t>
            </a:r>
            <a:br/>
            <a:r>
              <a:t>English: "what is", "explain", "benefits of"</a:t>
            </a:r>
            <a:br/>
            <a:r>
              <a:t>→ Searches FAISS fitness knowledge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5486400" cy="2286000"/>
          </a:xfrm>
          <a:prstGeom prst="rect">
            <a:avLst/>
          </a:prstGeom>
          <a:solidFill>
            <a:srgbClr val="22223A"/>
          </a:solidFill>
          <a:ln w="19050"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91440" cy="91440"/>
          </a:xfrm>
          <a:prstGeom prst="rect">
            <a:avLst/>
          </a:prstGeom>
          <a:solidFill>
            <a:srgbClr val="EA6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416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Arabic: "خطة لي", "ماذا آكل", "كم بروتين"</a:t>
            </a:r>
            <a:br/>
            <a:r>
              <a:t>English: "plan for me", "should I do"</a:t>
            </a:r>
            <a:br/>
            <a:r>
              <a:t>→ Merges personal data + 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5486400" cy="2286000"/>
          </a:xfrm>
          <a:prstGeom prst="rect">
            <a:avLst/>
          </a:prstGeom>
          <a:solidFill>
            <a:srgbClr val="22223A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14800"/>
            <a:ext cx="9144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416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Off-Topic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34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Sports news, politics, weather, movies</a:t>
            </a:r>
            <a:br/>
            <a:r>
              <a:t>→ Polite redirect to fitness 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RAG Engine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6-stage processing with timing targets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41732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Keyword scoring → choose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⚡  ~5ms</a:t>
            </a:r>
          </a:p>
        </p:txBody>
      </p:sp>
      <p:sp>
        <p:nvSpPr>
          <p:cNvPr id="9" name="Oval 8"/>
          <p:cNvSpPr/>
          <p:nvPr/>
        </p:nvSpPr>
        <p:spPr>
          <a:xfrm>
            <a:off x="4343400" y="141732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Build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Fetch 23 Supabase tables (cached 5min)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⚡  ~200ms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141732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Vector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Cohere embed → FAISS search → 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⚡  ~150ms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886199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861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Assemble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9767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Merge Supabase + vectors into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⚡  ~5ms</a:t>
            </a:r>
          </a:p>
        </p:txBody>
      </p:sp>
      <p:sp>
        <p:nvSpPr>
          <p:cNvPr id="21" name="Oval 20"/>
          <p:cNvSpPr/>
          <p:nvPr/>
        </p:nvSpPr>
        <p:spPr>
          <a:xfrm>
            <a:off x="4343400" y="3886199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8861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9767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Cohere LLM (temp=0.35, 600 tokens)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120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⚡  ~500-1000ms</a:t>
            </a:r>
          </a:p>
        </p:txBody>
      </p:sp>
      <p:sp>
        <p:nvSpPr>
          <p:cNvPr id="25" name="Oval 24"/>
          <p:cNvSpPr/>
          <p:nvPr/>
        </p:nvSpPr>
        <p:spPr>
          <a:xfrm>
            <a:off x="8183880" y="3886199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8861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Cache &amp; 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29767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Cache response → stream via 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120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⚡  ~5ms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69280"/>
            <a:ext cx="256032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  <a:latin typeface="Calibri"/>
              </a:defRPr>
            </a:pPr>
            <a:r>
              <a:t>&lt; 100ms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Cached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5669280"/>
            <a:ext cx="256032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  <a:latin typeface="Calibri"/>
              </a:defRPr>
            </a:pPr>
            <a:r>
              <a:t>&lt; 1.5s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5989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First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669280"/>
            <a:ext cx="256032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989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API saved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5669280"/>
            <a:ext cx="256032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  <a:latin typeface="Calibri"/>
              </a:defRPr>
            </a:pPr>
            <a:r>
              <a:t>600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5989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Token cap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Example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Real interactions showing each routing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46888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CA7E"/>
                </a:solidFill>
                <a:latin typeface="Calibri"/>
              </a:defRPr>
            </a:pPr>
            <a:r>
              <a:t>🔀  Supabase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User: What's my current weight? Has my body fat changed?</a:t>
            </a:r>
            <a:br/>
            <a:br/>
            <a:r>
              <a:t>Bot: Weight: 85 kg (recorded Jun 15). Body fat: 22% (down 1.5% from last month).</a:t>
            </a:r>
            <a:br/>
            <a:r>
              <a:t>Muscle mass: 40 kg (stable).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0"/>
                </a:solidFill>
                <a:latin typeface="Calibri"/>
              </a:defRPr>
            </a:pPr>
            <a:r>
              <a:t>Sources: profiles, body_measurements, inbody_results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577840" cy="246888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618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🔀 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User: What's the difference between Squat and Lunges?</a:t>
            </a:r>
            <a:br/>
            <a:br/>
            <a:r>
              <a:t>Bot: Squat: compound, targets quads/glutes, burns more calories.</a:t>
            </a:r>
            <a:br/>
            <a:r>
              <a:t>Lunges: unilateral, improves balance and joint stability.</a:t>
            </a:r>
            <a:br/>
            <a:r>
              <a:t>→ Use both for best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00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0"/>
                </a:solidFill>
                <a:latin typeface="Calibri"/>
              </a:defRPr>
            </a:pPr>
            <a:r>
              <a:t>Sources: exercise_library, vector knowledge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577840" cy="2468880"/>
          </a:xfrm>
          <a:prstGeom prst="rect">
            <a:avLst/>
          </a:prstGeom>
          <a:solidFill>
            <a:srgbClr val="22223A"/>
          </a:solidFill>
          <a:ln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13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667E"/>
                </a:solidFill>
                <a:latin typeface="Calibri"/>
              </a:defRPr>
            </a:pPr>
            <a:r>
              <a:t>🔀  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User: Create a weekly workout plan for me</a:t>
            </a:r>
            <a:br/>
            <a:br/>
            <a:r>
              <a:t>Bot: Based on your data: 85kg, goal: fat loss, activity: moderate.</a:t>
            </a:r>
            <a:br/>
            <a:r>
              <a:t>Mon: Cardio 30min  |  Tue: Strength (Squat, Bench, Rows)</a:t>
            </a:r>
            <a:br/>
            <a:r>
              <a:t>Wed: Walk 45min  |  Thu: HIIT Tabata 20min</a:t>
            </a:r>
            <a:br/>
            <a:r>
              <a:t>Fri: Strength (Deadlift, Pull-ups)  |  Sat: Swim 40min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52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0"/>
                </a:solidFill>
                <a:latin typeface="Calibri"/>
              </a:defRPr>
            </a:pPr>
            <a:r>
              <a:t>Sources: Supabase profile + FAISS exercise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577840" cy="2468880"/>
          </a:xfrm>
          <a:prstGeom prst="rect">
            <a:avLst/>
          </a:prstGeom>
          <a:solidFill>
            <a:srgbClr val="22223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13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🔀  Off-Topic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06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User: Tell me the latest football news</a:t>
            </a:r>
            <a:br/>
            <a:br/>
            <a:r>
              <a:t>Bot: I'm specialized in fitness &amp; nutrition only.</a:t>
            </a:r>
            <a:br/>
            <a:r>
              <a:t>I can help with workouts, diet plans, InBody analysis.</a:t>
            </a:r>
            <a:br/>
            <a:r>
              <a:t>What's your fitness goal today?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852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0"/>
                </a:solidFill>
                <a:latin typeface="Calibri"/>
              </a:defRPr>
            </a:pPr>
            <a:r>
              <a:t>Polite redirect to fitness domain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Supabase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23 tables across 4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743200" cy="5120640"/>
          </a:xfrm>
          <a:prstGeom prst="rect">
            <a:avLst/>
          </a:prstGeom>
          <a:solidFill>
            <a:srgbClr val="22223A"/>
          </a:solidFill>
          <a:ln w="19050"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CA7E"/>
                </a:solidFill>
                <a:latin typeface="Calibri"/>
              </a:defRPr>
            </a:pPr>
            <a:r>
              <a:t>Profile &amp; Body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profiles — User info, goal, TDEE, BMR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body_measurements — InBody scans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inbody_results — Scan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weight_logs — Weight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743200" cy="5120640"/>
          </a:xfrm>
          <a:prstGeom prst="rect">
            <a:avLst/>
          </a:prstGeom>
          <a:solidFill>
            <a:srgbClr val="22223A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7EEA"/>
                </a:solidFill>
                <a:latin typeface="Calibri"/>
              </a:defRPr>
            </a:pPr>
            <a:r>
              <a:t>Workouts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workout_plans — Training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workouts — Completed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exercise_library — Exercise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user_exercise_sets — Reps/sets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743200" cy="5120640"/>
          </a:xfrm>
          <a:prstGeom prst="rect">
            <a:avLst/>
          </a:prstGeom>
          <a:solidFill>
            <a:srgbClr val="22223A"/>
          </a:solidFill>
          <a:ln w="19050"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667E"/>
                </a:solidFill>
                <a:latin typeface="Calibri"/>
              </a:defRPr>
            </a:pPr>
            <a:r>
              <a:t>Nutrition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user_meal_plans — Meal schedules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meals — Logged meals with macros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food_items — Food nutrition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user_meal_checkins — Compliance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188720"/>
            <a:ext cx="2743200" cy="5120640"/>
          </a:xfrm>
          <a:prstGeom prst="rect">
            <a:avLst/>
          </a:prstGeom>
          <a:solidFill>
            <a:srgbClr val="22223A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64BA2"/>
                </a:solidFill>
                <a:latin typeface="Calibri"/>
              </a:defRPr>
            </a:pPr>
            <a:r>
              <a:t>Social &amp; Coach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posts / comments / likes — Social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direct_messages — Messaging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coach_plans / plan_muscles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selected_coach_plan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Multi-Tier Caching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In-Memory + optional Redis with auto-fallback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2011680"/>
          </a:xfrm>
          <a:prstGeom prst="rect">
            <a:avLst/>
          </a:prstGeom>
          <a:solidFill>
            <a:srgbClr val="22223A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0F0"/>
                </a:solidFill>
                <a:latin typeface="Calibri"/>
              </a:defRPr>
            </a:pPr>
            <a:r>
              <a:t>In-Memory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Thread-safe asyncio.Lock storage</a:t>
            </a:r>
            <a:br/>
            <a:r>
              <a:t>• Entry-level TTL expiration</a:t>
            </a:r>
            <a:br/>
            <a:r>
              <a:t>• Zero network latency</a:t>
            </a:r>
            <a:br/>
            <a:r>
              <a:t>• Best for single-instance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Local  |  No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03520" cy="2011680"/>
          </a:xfrm>
          <a:prstGeom prst="rect">
            <a:avLst/>
          </a:prstGeom>
          <a:solidFill>
            <a:srgbClr val="22223A"/>
          </a:solidFill>
          <a:ln w="19050"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0F0"/>
                </a:solidFill>
                <a:latin typeface="Calibri"/>
              </a:defRPr>
            </a:pPr>
            <a:r>
              <a:t>Redis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Distributed across instances</a:t>
            </a:r>
            <a:br/>
            <a:r>
              <a:t>• Auto-fallback to memory if down</a:t>
            </a:r>
            <a:br/>
            <a:r>
              <a:t>• Pattern-based key invalidation</a:t>
            </a:r>
            <a:br/>
            <a:r>
              <a:t>• Production-ready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Distributed  |  Auto-Fallback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Cache TTL Configuration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2011680" cy="3200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9592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  <a:latin typeface="Calibri"/>
              </a:defRPr>
            </a:pPr>
            <a:r>
              <a:t>Cache 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977639"/>
            <a:ext cx="3657600" cy="3200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399592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  <a:latin typeface="Calibri"/>
              </a:defRPr>
            </a:pPr>
            <a:r>
              <a:t>Key Pattern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977639"/>
            <a:ext cx="2286000" cy="3200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99592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  <a:latin typeface="Calibri"/>
              </a:defRPr>
            </a:pPr>
            <a:r>
              <a:t>TTL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977639"/>
            <a:ext cx="3657600" cy="3200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99592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25111"/>
            <a:ext cx="201168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4339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User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325111"/>
            <a:ext cx="36576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4343399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ctx:user:{id}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325111"/>
            <a:ext cx="22860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34339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325111"/>
            <a:ext cx="36576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343399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-95% Supabase queries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17719"/>
            <a:ext cx="201168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63600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4617719"/>
            <a:ext cx="36576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46360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emb:{hash}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617719"/>
            <a:ext cx="22860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636007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1 hour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617719"/>
            <a:ext cx="36576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46360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-90% Cohere API calls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910327"/>
            <a:ext cx="201168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928615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Vector Search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4910327"/>
            <a:ext cx="36576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4928615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vec:search:{hash}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910327"/>
            <a:ext cx="22860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4928615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910327"/>
            <a:ext cx="36576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4928615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Instant repeat queries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202934"/>
            <a:ext cx="201168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22122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RAG Response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5202934"/>
            <a:ext cx="36576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522122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rag:response:{hash}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202934"/>
            <a:ext cx="22860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522122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5202934"/>
            <a:ext cx="36576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522122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&lt;100ms repeat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Languages, frameworks, and tools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Python 3.11+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Async runtime with asyncio &amp; httpx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asyncio · pydantic · httpx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REST framework with OpenAPI &amp; 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REST · SSE · CORS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RAG pipeline with composable chains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LCEL · Prompts · Runnables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Cohere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Multilingual LLM + embeddings 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command-a · embed-v3.0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97180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429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PostgreSQL + REST + RLS policies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23 tables · Row Level 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97180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FAISS (Meta)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429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Vector search via Inner 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IndexFlatIP · 1024 dim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5488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Redis (Opt.)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Distributed cache with auto-fallback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Key expiry · Pattern invalidation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75488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Headless browser for SPA ingestion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Headless · Route extraction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75488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Uvicorn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High-performance ASGI 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ASGI · HTTP/2 · Hot reload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Request lifecycle from user to AI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188720"/>
            <a:ext cx="3931920" cy="640080"/>
          </a:xfrm>
          <a:prstGeom prst="rect">
            <a:avLst/>
          </a:prstGeom>
          <a:solidFill>
            <a:srgbClr val="282848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0F0"/>
                </a:solidFill>
                <a:latin typeface="Calibri"/>
              </a:defRPr>
            </a:pPr>
            <a:r>
              <a:t>👤 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Asks (Arabic / English)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194560"/>
            <a:ext cx="5760720" cy="457200"/>
          </a:xfrm>
          <a:prstGeom prst="rect">
            <a:avLst/>
          </a:prstGeom>
          <a:solidFill>
            <a:srgbClr val="282848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40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0"/>
                </a:solidFill>
                <a:latin typeface="Calibri"/>
              </a:defRPr>
            </a:pPr>
            <a:r>
              <a:t>⚡  FastAPI  →  🔀  Router  →  decide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17520"/>
            <a:ext cx="3291840" cy="82296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CA7E"/>
                </a:solidFill>
                <a:latin typeface="Calibri"/>
              </a:defRPr>
            </a:pPr>
            <a:r>
              <a:t>Supabase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23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017520"/>
            <a:ext cx="3291840" cy="82296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Vector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FAISS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017520"/>
            <a:ext cx="3291840" cy="822960"/>
          </a:xfrm>
          <a:prstGeom prst="rect">
            <a:avLst/>
          </a:prstGeom>
          <a:solidFill>
            <a:srgbClr val="22223A"/>
          </a:solidFill>
          <a:ln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063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667E"/>
                </a:solidFill>
                <a:latin typeface="Calibri"/>
              </a:defRPr>
            </a:pPr>
            <a:r>
              <a:t>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Both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solidFill>
            <a:srgbClr val="282848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251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0"/>
                </a:solidFill>
                <a:latin typeface="Calibri"/>
              </a:defRPr>
            </a:pPr>
            <a:r>
              <a:t>🧠  RAG Engine  —  Assemble Context  ➔  Cohere LLM  ➔  Clean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20640"/>
            <a:ext cx="5029200" cy="457200"/>
          </a:xfrm>
          <a:prstGeom prst="rect">
            <a:avLst/>
          </a:prstGeom>
          <a:solidFill>
            <a:srgbClr val="22223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C107"/>
                </a:solidFill>
                <a:latin typeface="Calibri"/>
              </a:defRPr>
            </a:pPr>
            <a:r>
              <a:t>⚡  Cache (2-min TTL)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120640"/>
            <a:ext cx="5029200" cy="45720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CA7E"/>
                </a:solidFill>
                <a:latin typeface="Calibri"/>
              </a:defRPr>
            </a:pPr>
            <a:r>
              <a:t>💬  Response (JSON / SSE)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Ingestion Engine (SPA / Static Sites)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Model2 Router (ML Predictions)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Performance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Key metrics and how we achieve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67EEA"/>
                </a:solidFill>
                <a:latin typeface="Calibri"/>
              </a:defRPr>
            </a:pPr>
            <a:r>
              <a:t>&lt; 1.5s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Avg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80160"/>
            <a:ext cx="256032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67EEA"/>
                </a:solidFill>
                <a:latin typeface="Calibri"/>
              </a:defRPr>
            </a:pPr>
            <a:r>
              <a:t>&lt; 100ms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Cached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256032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67EEA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Supabase saved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280160"/>
            <a:ext cx="256032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67EEA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Cohere calls saved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5303520" cy="182880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User context (5-min TTL)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Embeddings (1-hour TTL)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Search results (2-min TTL)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776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Full response (2-min TTL)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560320"/>
            <a:ext cx="5303520" cy="182880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Embedding batching (size: 96)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Exponential backoff on rate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57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Vector store pre-loaded on startup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Route-prioritized document retrieval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1E1E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Goal: Fast response &lt; 1.5s with high accuracy in Arabic &amp; English,</a:t>
            </a:r>
            <a:br/>
            <a:r>
              <a:t>delivering personalized answers from real user data + fitness knowledge.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What makes FitMentor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Bilingual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Automatic Arabic/English detection &amp; response in same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RLS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737360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Row Level Security via Supabase protecting all user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Personalized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Tailored using real InBody, profile, workouts &amp; meal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280160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Live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737360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SSE character-by-character streaming for smooth UX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587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5876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Auto 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06239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Imports website &amp; SPA content into knowledge base automatically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749039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8587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85876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Chat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206239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Full conversation management with Supabase + memory fallback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749039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8587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5876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ML Powered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206239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Connected to Model2 for predictions &amp; advanced analytics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3749039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38587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85876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Clean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206239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Auto-removes markdown for readable plain-text responses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Completed &amp; upcoming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3657600"/>
          </a:xfrm>
          <a:prstGeom prst="rect">
            <a:avLst/>
          </a:prstGeom>
          <a:solidFill>
            <a:srgbClr val="22223A"/>
          </a:solidFill>
          <a:ln w="19050"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BCA7E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✓  Hybrid RAG (Supabase + FAISS)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30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✓  Multi-tier caching (RAM + Redis)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80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✓  Arabic + English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✓  SPA content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72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✓  SSE live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✓  InBody scan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67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✓  Personalized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✓  Conversation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5303520" cy="3657600"/>
          </a:xfrm>
          <a:prstGeom prst="rect">
            <a:avLst/>
          </a:prstGeom>
          <a:solidFill>
            <a:srgbClr val="22223A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C107"/>
                </a:solidFill>
                <a:latin typeface="Calibri"/>
              </a:defRPr>
            </a:pPr>
            <a:r>
              <a:t>In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83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↻  Image/video in responses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30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↻  Long-term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780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↻  Multi-modal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254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↻  Sentiment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72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↻  Voice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204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↻  Apple Health / Google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867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↻  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153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↻  Coach-specific AI tools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1E1E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Vision: A continuously learning coach that deeply understands each user</a:t>
            </a:r>
            <a:br/>
            <a:r>
              <a:t>and adapts to their physiological &amp; psychological changes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0F0F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0F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0B0C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07080"/>
                </a:solidFill>
                <a:latin typeface="Calibri"/>
              </a:defRPr>
            </a:pPr>
            <a:r>
              <a:t>FitMentor AI Chatbot  v4.0.0  •  Hybrid RAG System</a:t>
            </a:r>
            <a:br/>
            <a:r>
              <a:t>FastAPI  ·  LangChain  ·  Cohere  ·  FAISS  ·  Supabase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3931920" cy="548640"/>
          </a:xfrm>
          <a:prstGeom prst="rect">
            <a:avLst/>
          </a:prstGeom>
          <a:solidFill>
            <a:srgbClr val="2A2A50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5166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667EEA"/>
                </a:solidFill>
                <a:latin typeface="Calibri"/>
              </a:defRPr>
            </a:pPr>
            <a:r>
              <a:t>Ready for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